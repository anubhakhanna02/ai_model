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6"/>
  </p:notesMasterIdLst>
  <p:sldIdLst>
    <p:sldId id="283" r:id="rId2"/>
    <p:sldId id="267" r:id="rId3"/>
    <p:sldId id="271" r:id="rId4"/>
    <p:sldId id="273" r:id="rId5"/>
    <p:sldId id="272" r:id="rId6"/>
    <p:sldId id="274" r:id="rId7"/>
    <p:sldId id="275" r:id="rId8"/>
    <p:sldId id="280" r:id="rId9"/>
    <p:sldId id="277" r:id="rId10"/>
    <p:sldId id="281" r:id="rId11"/>
    <p:sldId id="282" r:id="rId12"/>
    <p:sldId id="278" r:id="rId13"/>
    <p:sldId id="279" r:id="rId14"/>
    <p:sldId id="284" r:id="rId1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72" autoAdjust="0"/>
    <p:restoredTop sz="94660"/>
  </p:normalViewPr>
  <p:slideViewPr>
    <p:cSldViewPr>
      <p:cViewPr>
        <p:scale>
          <a:sx n="66" d="100"/>
          <a:sy n="66" d="100"/>
        </p:scale>
        <p:origin x="1958" y="475"/>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35856B9-C406-4639-9067-2E395665B7D5}" type="datetimeFigureOut">
              <a:rPr lang="en-US" smtClean="0"/>
              <a:t>5/13/2026</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DE6F87D-6218-408A-83C8-6EA67CAFB35B}" type="slidenum">
              <a:rPr lang="en-US" smtClean="0"/>
              <a:t>‹#›</a:t>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5486400" cy="914400"/>
          </a:xfrm>
        </p:spPr>
        <p:txBody>
          <a:bodyPr/>
          <a:lstStyle>
            <a:lvl1pPr>
              <a:defRPr sz="3200" b="1">
                <a:latin typeface="Times New Roman" panose="02020603050405020304" pitchFamily="18" charset="0"/>
                <a:cs typeface="Times New Roman" panose="02020603050405020304" pitchFamily="18" charset="0"/>
              </a:defRPr>
            </a:lvl1pPr>
          </a:lstStyle>
          <a:p>
            <a:r>
              <a:rPr lang="en-US"/>
              <a:t>Click to edit Master title style</a:t>
            </a:r>
            <a:endParaRPr lang="en-US" dirty="0"/>
          </a:p>
        </p:txBody>
      </p:sp>
      <p:sp>
        <p:nvSpPr>
          <p:cNvPr id="3" name="Subtitle 2"/>
          <p:cNvSpPr>
            <a:spLocks noGrp="1"/>
          </p:cNvSpPr>
          <p:nvPr>
            <p:ph type="subTitle" idx="1"/>
          </p:nvPr>
        </p:nvSpPr>
        <p:spPr>
          <a:xfrm>
            <a:off x="533400" y="1371600"/>
            <a:ext cx="8153400" cy="47244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fld id="{2BF24FC6-CC00-43B9-976D-7955F6CEF0B6}" type="datetime1">
              <a:rPr lang="en-US" smtClean="0"/>
              <a:t>5/13/2026</a:t>
            </a:fld>
            <a:endParaRPr lang="en-US" dirty="0"/>
          </a:p>
        </p:txBody>
      </p:sp>
      <p:sp>
        <p:nvSpPr>
          <p:cNvPr id="5" name="Footer Placeholder 4"/>
          <p:cNvSpPr>
            <a:spLocks noGrp="1"/>
          </p:cNvSpPr>
          <p:nvPr>
            <p:ph type="ftr" sz="quarter" idx="11"/>
          </p:nvPr>
        </p:nvSpPr>
        <p:spPr/>
        <p:txBody>
          <a:bodyPr/>
          <a:lstStyle>
            <a:lvl1pPr>
              <a:defRPr/>
            </a:lvl1pPr>
          </a:lstStyle>
          <a:p>
            <a:r>
              <a:rPr lang="en-US" dirty="0"/>
              <a:t>page-1</a:t>
            </a:r>
          </a:p>
        </p:txBody>
      </p:sp>
      <p:sp>
        <p:nvSpPr>
          <p:cNvPr id="6" name="Slide Number Placeholder 5"/>
          <p:cNvSpPr>
            <a:spLocks noGrp="1"/>
          </p:cNvSpPr>
          <p:nvPr>
            <p:ph type="sldNum" sz="quarter" idx="12"/>
          </p:nvPr>
        </p:nvSpPr>
        <p:spPr/>
        <p:txBody>
          <a:bodyPr/>
          <a:lstStyle>
            <a:lvl1pPr>
              <a:defRPr/>
            </a:lvl1pPr>
          </a:lstStyle>
          <a:p>
            <a:fld id="{0F8887D6-2A35-42AC-99C1-5E14D32EE4CF}" type="slidenum">
              <a:rPr lang="en-US" smtClean="0"/>
              <a:pPr/>
              <a:t>‹#›</a:t>
            </a:fld>
            <a:endParaRPr lang="en-US" dirty="0"/>
          </a:p>
        </p:txBody>
      </p:sp>
    </p:spTree>
  </p:cSld>
  <p:clrMapOvr>
    <a:masterClrMapping/>
  </p:clrMapOvr>
  <p:transition advTm="4000">
    <p:cut/>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4" name="Picture 10" descr="LOGO.gif"/>
          <p:cNvPicPr>
            <a:picLocks noChangeAspect="1"/>
          </p:cNvPicPr>
          <p:nvPr/>
        </p:nvPicPr>
        <p:blipFill>
          <a:blip r:embed="rId2" cstate="print"/>
          <a:srcRect b="10713"/>
          <a:stretch>
            <a:fillRect/>
          </a:stretch>
        </p:blipFill>
        <p:spPr bwMode="auto">
          <a:xfrm>
            <a:off x="6553200" y="228600"/>
            <a:ext cx="2057400" cy="635000"/>
          </a:xfrm>
          <a:prstGeom prst="rect">
            <a:avLst/>
          </a:prstGeom>
          <a:noFill/>
          <a:ln w="9525">
            <a:noFill/>
            <a:miter lim="800000"/>
            <a:headEnd/>
            <a:tailEnd/>
          </a:ln>
        </p:spPr>
      </p:pic>
      <p:grpSp>
        <p:nvGrpSpPr>
          <p:cNvPr id="5" name="Group 7"/>
          <p:cNvGrpSpPr>
            <a:grpSpLocks/>
          </p:cNvGrpSpPr>
          <p:nvPr/>
        </p:nvGrpSpPr>
        <p:grpSpPr bwMode="auto">
          <a:xfrm>
            <a:off x="6146800" y="0"/>
            <a:ext cx="2997200" cy="876300"/>
            <a:chOff x="6096000" y="3924300"/>
            <a:chExt cx="2997200" cy="876300"/>
          </a:xfrm>
        </p:grpSpPr>
        <p:sp>
          <p:nvSpPr>
            <p:cNvPr id="6" name="Rectangle 11"/>
            <p:cNvSpPr>
              <a:spLocks noChangeArrowheads="1"/>
            </p:cNvSpPr>
            <p:nvPr/>
          </p:nvSpPr>
          <p:spPr bwMode="auto">
            <a:xfrm>
              <a:off x="6096000" y="3924300"/>
              <a:ext cx="2997200" cy="838200"/>
            </a:xfrm>
            <a:prstGeom prst="rect">
              <a:avLst/>
            </a:prstGeom>
            <a:solidFill>
              <a:srgbClr val="FF3300"/>
            </a:solidFill>
            <a:ln w="9525">
              <a:noFill/>
              <a:miter lim="800000"/>
              <a:headEnd/>
              <a:tailEnd/>
            </a:ln>
          </p:spPr>
          <p:txBody>
            <a:bodyPr wrap="none" anchor="ctr"/>
            <a:lstStyle/>
            <a:p>
              <a:endParaRPr lang="en-US" dirty="0">
                <a:latin typeface="Calibri" pitchFamily="34" charset="0"/>
              </a:endParaRPr>
            </a:p>
          </p:txBody>
        </p:sp>
        <p:pic>
          <p:nvPicPr>
            <p:cNvPr id="7" name="Picture 9" descr="LOGO.gif"/>
            <p:cNvPicPr>
              <a:picLocks noChangeAspect="1"/>
            </p:cNvPicPr>
            <p:nvPr/>
          </p:nvPicPr>
          <p:blipFill>
            <a:blip r:embed="rId2" cstate="print"/>
            <a:srcRect b="10713"/>
            <a:stretch>
              <a:fillRect/>
            </a:stretch>
          </p:blipFill>
          <p:spPr bwMode="auto">
            <a:xfrm>
              <a:off x="6502400" y="4152900"/>
              <a:ext cx="2057400" cy="635000"/>
            </a:xfrm>
            <a:prstGeom prst="rect">
              <a:avLst/>
            </a:prstGeom>
            <a:noFill/>
            <a:ln w="9525">
              <a:noFill/>
              <a:miter lim="800000"/>
              <a:headEnd/>
              <a:tailEnd/>
            </a:ln>
          </p:spPr>
        </p:pic>
        <p:sp>
          <p:nvSpPr>
            <p:cNvPr id="8" name="Rectangle 7"/>
            <p:cNvSpPr/>
            <p:nvPr/>
          </p:nvSpPr>
          <p:spPr>
            <a:xfrm>
              <a:off x="6477000" y="4114800"/>
              <a:ext cx="2076450" cy="685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pic>
        <p:nvPicPr>
          <p:cNvPr id="9" name="Picture 15" descr="logo.jpg"/>
          <p:cNvPicPr>
            <a:picLocks noChangeAspect="1"/>
          </p:cNvPicPr>
          <p:nvPr/>
        </p:nvPicPr>
        <p:blipFill>
          <a:blip r:embed="rId3" cstate="print"/>
          <a:srcRect/>
          <a:stretch>
            <a:fillRect/>
          </a:stretch>
        </p:blipFill>
        <p:spPr bwMode="auto">
          <a:xfrm>
            <a:off x="6553200" y="228600"/>
            <a:ext cx="1920875" cy="609600"/>
          </a:xfrm>
          <a:prstGeom prst="rect">
            <a:avLst/>
          </a:prstGeom>
          <a:noFill/>
          <a:ln w="9525">
            <a:noFill/>
            <a:miter lim="800000"/>
            <a:headEnd/>
            <a:tailEnd/>
          </a:ln>
        </p:spPr>
      </p:pic>
      <p:sp>
        <p:nvSpPr>
          <p:cNvPr id="2" name="Title 1"/>
          <p:cNvSpPr>
            <a:spLocks noGrp="1"/>
          </p:cNvSpPr>
          <p:nvPr>
            <p:ph type="title"/>
          </p:nvPr>
        </p:nvSpPr>
        <p:spPr/>
        <p:txBody>
          <a:bodyPr/>
          <a:lstStyle>
            <a:lvl1pPr>
              <a:defRPr sz="3200">
                <a:latin typeface="Times New Roman" panose="02020603050405020304" pitchFamily="18" charset="0"/>
                <a:cs typeface="Times New Roman" panose="02020603050405020304" pitchFamily="18"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200">
                <a:latin typeface="Times New Roman" panose="02020603050405020304" pitchFamily="18" charset="0"/>
                <a:cs typeface="Times New Roman" panose="02020603050405020304" pitchFamily="18" charset="0"/>
              </a:defRPr>
            </a:lvl1pPr>
            <a:lvl2pPr>
              <a:defRPr sz="2200">
                <a:latin typeface="Times New Roman" panose="02020603050405020304" pitchFamily="18" charset="0"/>
                <a:cs typeface="Times New Roman" panose="02020603050405020304" pitchFamily="18" charset="0"/>
              </a:defRPr>
            </a:lvl2pPr>
            <a:lvl3pPr>
              <a:defRPr sz="2200">
                <a:latin typeface="Times New Roman" panose="02020603050405020304" pitchFamily="18" charset="0"/>
                <a:cs typeface="Times New Roman" panose="02020603050405020304" pitchFamily="18" charset="0"/>
              </a:defRPr>
            </a:lvl3pPr>
            <a:lvl4pPr>
              <a:defRPr sz="2200">
                <a:latin typeface="Times New Roman" panose="02020603050405020304" pitchFamily="18" charset="0"/>
                <a:cs typeface="Times New Roman" panose="02020603050405020304" pitchFamily="18" charset="0"/>
              </a:defRPr>
            </a:lvl4pPr>
            <a:lvl5pPr>
              <a:defRPr sz="2200">
                <a:latin typeface="Times New Roman" panose="02020603050405020304" pitchFamily="18" charset="0"/>
                <a:cs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3"/>
          <p:cNvSpPr>
            <a:spLocks noGrp="1"/>
          </p:cNvSpPr>
          <p:nvPr>
            <p:ph type="dt" sz="half" idx="10"/>
          </p:nvPr>
        </p:nvSpPr>
        <p:spPr/>
        <p:txBody>
          <a:bodyPr/>
          <a:lstStyle>
            <a:lvl1pPr>
              <a:defRPr/>
            </a:lvl1pPr>
          </a:lstStyle>
          <a:p>
            <a:fld id="{E7D1606C-8471-48E2-AD56-D4DC599AB0D1}" type="datetime1">
              <a:rPr lang="en-US" smtClean="0"/>
              <a:t>5/13/2026</a:t>
            </a:fld>
            <a:endParaRPr lang="en-US" dirty="0"/>
          </a:p>
        </p:txBody>
      </p:sp>
      <p:sp>
        <p:nvSpPr>
          <p:cNvPr id="11" name="Footer Placeholder 4"/>
          <p:cNvSpPr>
            <a:spLocks noGrp="1"/>
          </p:cNvSpPr>
          <p:nvPr>
            <p:ph type="ftr" sz="quarter" idx="11"/>
          </p:nvPr>
        </p:nvSpPr>
        <p:spPr/>
        <p:txBody>
          <a:bodyPr/>
          <a:lstStyle>
            <a:lvl1pPr>
              <a:defRPr/>
            </a:lvl1pPr>
          </a:lstStyle>
          <a:p>
            <a:r>
              <a:rPr lang="en-US" dirty="0"/>
              <a:t>page-1</a:t>
            </a:r>
          </a:p>
        </p:txBody>
      </p:sp>
      <p:sp>
        <p:nvSpPr>
          <p:cNvPr id="12" name="Slide Number Placeholder 5"/>
          <p:cNvSpPr>
            <a:spLocks noGrp="1"/>
          </p:cNvSpPr>
          <p:nvPr>
            <p:ph type="sldNum" sz="quarter" idx="12"/>
          </p:nvPr>
        </p:nvSpPr>
        <p:spPr/>
        <p:txBody>
          <a:bodyPr/>
          <a:lstStyle>
            <a:lvl1pPr>
              <a:defRPr/>
            </a:lvl1pPr>
          </a:lstStyle>
          <a:p>
            <a:fld id="{0F8887D6-2A35-42AC-99C1-5E14D32EE4CF}" type="slidenum">
              <a:rPr lang="en-US" smtClean="0"/>
              <a:pPr/>
              <a:t>‹#›</a:t>
            </a:fld>
            <a:endParaRPr lang="en-US" dirty="0"/>
          </a:p>
        </p:txBody>
      </p:sp>
    </p:spTree>
  </p:cSld>
  <p:clrMapOvr>
    <a:masterClrMapping/>
  </p:clrMapOvr>
  <p:transition advTm="4000">
    <p:cut/>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A2F99AD2-C03F-4EF6-8A86-1D75233D7BD7}" type="datetime1">
              <a:rPr lang="en-US" smtClean="0"/>
              <a:t>5/13/2026</a:t>
            </a:fld>
            <a:endParaRPr lang="en-US" dirty="0"/>
          </a:p>
        </p:txBody>
      </p:sp>
      <p:sp>
        <p:nvSpPr>
          <p:cNvPr id="24" name="Footer Placeholder 23"/>
          <p:cNvSpPr>
            <a:spLocks noGrp="1"/>
          </p:cNvSpPr>
          <p:nvPr>
            <p:ph type="ftr" sz="quarter" idx="11"/>
          </p:nvPr>
        </p:nvSpPr>
        <p:spPr/>
        <p:txBody>
          <a:bodyPr/>
          <a:lstStyle/>
          <a:p>
            <a:r>
              <a:rPr lang="en-US" dirty="0"/>
              <a:t>page-1</a:t>
            </a:r>
          </a:p>
        </p:txBody>
      </p:sp>
      <p:sp>
        <p:nvSpPr>
          <p:cNvPr id="7" name="Slide Number Placeholder 6"/>
          <p:cNvSpPr>
            <a:spLocks noGrp="1"/>
          </p:cNvSpPr>
          <p:nvPr>
            <p:ph type="sldNum" sz="quarter" idx="12"/>
          </p:nvPr>
        </p:nvSpPr>
        <p:spPr/>
        <p:txBody>
          <a:bodyPr/>
          <a:lstStyle/>
          <a:p>
            <a:fld id="{0F8887D6-2A35-42AC-99C1-5E14D32EE4CF}" type="slidenum">
              <a:rPr lang="en-US" smtClean="0"/>
              <a:pPr/>
              <a:t>‹#›</a:t>
            </a:fld>
            <a:endParaRPr lang="en-US" dirty="0"/>
          </a:p>
        </p:txBody>
      </p:sp>
    </p:spTree>
  </p:cSld>
  <p:clrMapOvr>
    <a:masterClrMapping/>
  </p:clrMapOvr>
  <p:transition advTm="4000">
    <p:cut/>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jpeg"/><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0" y="0"/>
            <a:ext cx="6477000" cy="8382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457200" y="13716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wrap="square" lIns="91440" tIns="45720" rIns="91440" bIns="45720" numCol="1" anchor="ctr" anchorCtr="0" compatLnSpc="1">
            <a:prstTxWarp prst="textNoShape">
              <a:avLst/>
            </a:prstTxWarp>
          </a:bodyPr>
          <a:lstStyle>
            <a:lvl1pPr>
              <a:defRPr sz="1200" b="1">
                <a:solidFill>
                  <a:srgbClr val="0070C0"/>
                </a:solidFill>
                <a:latin typeface="Times New Roman" pitchFamily="18" charset="0"/>
                <a:cs typeface="Times New Roman" pitchFamily="18" charset="0"/>
              </a:defRPr>
            </a:lvl1pPr>
          </a:lstStyle>
          <a:p>
            <a:fld id="{FD6591F3-80F4-4429-9759-5593A06E962D}" type="datetime1">
              <a:rPr lang="en-US" smtClean="0"/>
              <a:t>5/13/2026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200" b="1">
                <a:solidFill>
                  <a:srgbClr val="0070C0"/>
                </a:solidFill>
                <a:latin typeface="Times New Roman" pitchFamily="18" charset="0"/>
                <a:ea typeface="ＭＳ Ｐゴシック" charset="-128"/>
                <a:cs typeface="Times New Roman" pitchFamily="18" charset="0"/>
              </a:defRPr>
            </a:lvl1pPr>
          </a:lstStyle>
          <a:p>
            <a:r>
              <a:rPr lang="en-US" dirty="0"/>
              <a:t>page-1</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b="1">
                <a:solidFill>
                  <a:srgbClr val="0070C0"/>
                </a:solidFill>
                <a:latin typeface="Times New Roman" pitchFamily="18" charset="0"/>
                <a:cs typeface="Times New Roman" pitchFamily="18" charset="0"/>
              </a:defRPr>
            </a:lvl1pPr>
          </a:lstStyle>
          <a:p>
            <a:fld id="{0F8887D6-2A35-42AC-99C1-5E14D32EE4CF}" type="slidenum">
              <a:rPr lang="en-US" smtClean="0"/>
              <a:pPr/>
              <a:t>‹#›</a:t>
            </a:fld>
            <a:endParaRPr lang="en-US" dirty="0"/>
          </a:p>
        </p:txBody>
      </p:sp>
      <p:sp>
        <p:nvSpPr>
          <p:cNvPr id="1031" name="Rectangle 11"/>
          <p:cNvSpPr>
            <a:spLocks noChangeArrowheads="1"/>
          </p:cNvSpPr>
          <p:nvPr/>
        </p:nvSpPr>
        <p:spPr bwMode="auto">
          <a:xfrm>
            <a:off x="0" y="0"/>
            <a:ext cx="9144000" cy="838200"/>
          </a:xfrm>
          <a:prstGeom prst="rect">
            <a:avLst/>
          </a:prstGeom>
          <a:solidFill>
            <a:srgbClr val="FF3300"/>
          </a:solidFill>
          <a:ln w="9525">
            <a:noFill/>
            <a:miter lim="800000"/>
            <a:headEnd/>
            <a:tailEnd/>
          </a:ln>
        </p:spPr>
        <p:txBody>
          <a:bodyPr wrap="none" anchor="ctr"/>
          <a:lstStyle/>
          <a:p>
            <a:endParaRPr lang="en-US" dirty="0">
              <a:latin typeface="Calibri" pitchFamily="34" charset="0"/>
            </a:endParaRPr>
          </a:p>
        </p:txBody>
      </p:sp>
      <p:sp>
        <p:nvSpPr>
          <p:cNvPr id="8" name="Rectangle 11"/>
          <p:cNvSpPr>
            <a:spLocks noChangeArrowheads="1"/>
          </p:cNvSpPr>
          <p:nvPr/>
        </p:nvSpPr>
        <p:spPr bwMode="auto">
          <a:xfrm flipV="1">
            <a:off x="0" y="6705600"/>
            <a:ext cx="9144000" cy="198116"/>
          </a:xfrm>
          <a:prstGeom prst="rect">
            <a:avLst/>
          </a:prstGeom>
          <a:solidFill>
            <a:srgbClr val="FF0000"/>
          </a:solidFill>
          <a:ln w="9525">
            <a:noFill/>
            <a:miter lim="800000"/>
            <a:headEnd/>
            <a:tailEnd/>
          </a:ln>
          <a:effectLst/>
          <a:scene3d>
            <a:camera prst="orthographicFront"/>
            <a:lightRig rig="threePt" dir="t"/>
          </a:scene3d>
          <a:sp3d>
            <a:bevelB/>
          </a:sp3d>
        </p:spPr>
        <p:txBody>
          <a:bodyPr wrap="none" anchor="ctr"/>
          <a:lstStyle/>
          <a:p>
            <a:pPr>
              <a:defRPr/>
            </a:pPr>
            <a:endParaRPr lang="en-US" dirty="0">
              <a:latin typeface="Calibri" charset="0"/>
              <a:ea typeface="ＭＳ Ｐゴシック" charset="-128"/>
            </a:endParaRPr>
          </a:p>
        </p:txBody>
      </p:sp>
      <p:pic>
        <p:nvPicPr>
          <p:cNvPr id="1035" name="Picture 10" descr="LOGO.gif"/>
          <p:cNvPicPr>
            <a:picLocks noChangeAspect="1"/>
          </p:cNvPicPr>
          <p:nvPr/>
        </p:nvPicPr>
        <p:blipFill>
          <a:blip r:embed="rId5" cstate="print"/>
          <a:srcRect b="10713"/>
          <a:stretch>
            <a:fillRect/>
          </a:stretch>
        </p:blipFill>
        <p:spPr bwMode="auto">
          <a:xfrm>
            <a:off x="6553200" y="228600"/>
            <a:ext cx="2057400" cy="635000"/>
          </a:xfrm>
          <a:prstGeom prst="rect">
            <a:avLst/>
          </a:prstGeom>
          <a:noFill/>
          <a:ln w="9525">
            <a:noFill/>
            <a:miter lim="800000"/>
            <a:headEnd/>
            <a:tailEnd/>
          </a:ln>
        </p:spPr>
      </p:pic>
      <p:pic>
        <p:nvPicPr>
          <p:cNvPr id="1036" name="Picture 10" descr="LOGO.gif"/>
          <p:cNvPicPr>
            <a:picLocks noChangeAspect="1"/>
          </p:cNvPicPr>
          <p:nvPr/>
        </p:nvPicPr>
        <p:blipFill>
          <a:blip r:embed="rId5" cstate="print"/>
          <a:srcRect b="10713"/>
          <a:stretch>
            <a:fillRect/>
          </a:stretch>
        </p:blipFill>
        <p:spPr bwMode="auto">
          <a:xfrm>
            <a:off x="6553200" y="228600"/>
            <a:ext cx="2057400" cy="635000"/>
          </a:xfrm>
          <a:prstGeom prst="rect">
            <a:avLst/>
          </a:prstGeom>
          <a:noFill/>
          <a:ln w="9525">
            <a:noFill/>
            <a:miter lim="800000"/>
            <a:headEnd/>
            <a:tailEnd/>
          </a:ln>
        </p:spPr>
      </p:pic>
      <p:grpSp>
        <p:nvGrpSpPr>
          <p:cNvPr id="2" name="Group 7"/>
          <p:cNvGrpSpPr>
            <a:grpSpLocks/>
          </p:cNvGrpSpPr>
          <p:nvPr/>
        </p:nvGrpSpPr>
        <p:grpSpPr bwMode="auto">
          <a:xfrm>
            <a:off x="6146800" y="0"/>
            <a:ext cx="2997200" cy="876300"/>
            <a:chOff x="6096000" y="3924300"/>
            <a:chExt cx="2997200" cy="876300"/>
          </a:xfrm>
        </p:grpSpPr>
        <p:sp>
          <p:nvSpPr>
            <p:cNvPr id="1039" name="Rectangle 11"/>
            <p:cNvSpPr>
              <a:spLocks noChangeArrowheads="1"/>
            </p:cNvSpPr>
            <p:nvPr/>
          </p:nvSpPr>
          <p:spPr bwMode="auto">
            <a:xfrm>
              <a:off x="6096000" y="3924300"/>
              <a:ext cx="2997200" cy="838200"/>
            </a:xfrm>
            <a:prstGeom prst="rect">
              <a:avLst/>
            </a:prstGeom>
            <a:solidFill>
              <a:srgbClr val="FF3300"/>
            </a:solidFill>
            <a:ln w="9525">
              <a:noFill/>
              <a:miter lim="800000"/>
              <a:headEnd/>
              <a:tailEnd/>
            </a:ln>
          </p:spPr>
          <p:txBody>
            <a:bodyPr wrap="none" anchor="ctr"/>
            <a:lstStyle/>
            <a:p>
              <a:endParaRPr lang="en-US" dirty="0">
                <a:latin typeface="Calibri" pitchFamily="34" charset="0"/>
              </a:endParaRPr>
            </a:p>
          </p:txBody>
        </p:sp>
        <p:pic>
          <p:nvPicPr>
            <p:cNvPr id="1040" name="Picture 9" descr="LOGO.gif"/>
            <p:cNvPicPr>
              <a:picLocks noChangeAspect="1"/>
            </p:cNvPicPr>
            <p:nvPr/>
          </p:nvPicPr>
          <p:blipFill>
            <a:blip r:embed="rId5" cstate="print"/>
            <a:srcRect b="10713"/>
            <a:stretch>
              <a:fillRect/>
            </a:stretch>
          </p:blipFill>
          <p:spPr bwMode="auto">
            <a:xfrm>
              <a:off x="6502400" y="4152900"/>
              <a:ext cx="2057400" cy="635000"/>
            </a:xfrm>
            <a:prstGeom prst="rect">
              <a:avLst/>
            </a:prstGeom>
            <a:noFill/>
            <a:ln w="9525">
              <a:noFill/>
              <a:miter lim="800000"/>
              <a:headEnd/>
              <a:tailEnd/>
            </a:ln>
          </p:spPr>
        </p:pic>
        <p:sp>
          <p:nvSpPr>
            <p:cNvPr id="19" name="Rectangle 18"/>
            <p:cNvSpPr/>
            <p:nvPr/>
          </p:nvSpPr>
          <p:spPr>
            <a:xfrm>
              <a:off x="6477000" y="4114800"/>
              <a:ext cx="2076450" cy="685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pic>
        <p:nvPicPr>
          <p:cNvPr id="1038" name="Picture 15" descr="logo.jpg"/>
          <p:cNvPicPr>
            <a:picLocks noChangeAspect="1"/>
          </p:cNvPicPr>
          <p:nvPr/>
        </p:nvPicPr>
        <p:blipFill>
          <a:blip r:embed="rId6" cstate="print"/>
          <a:srcRect/>
          <a:stretch>
            <a:fillRect/>
          </a:stretch>
        </p:blipFill>
        <p:spPr bwMode="auto">
          <a:xfrm>
            <a:off x="6553200" y="228600"/>
            <a:ext cx="1920875" cy="609600"/>
          </a:xfrm>
          <a:prstGeom prst="rect">
            <a:avLst/>
          </a:prstGeom>
          <a:noFill/>
          <a:ln w="9525">
            <a:noFill/>
            <a:miter lim="800000"/>
            <a:headEnd/>
            <a:tailEnd/>
          </a:ln>
        </p:spPr>
      </p:pic>
    </p:spTree>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Lst>
  <p:transition advTm="4000">
    <p:cut/>
  </p:transition>
  <p:hf hdr="0" ftr="0" dt="0"/>
  <p:txStyles>
    <p:titleStyle>
      <a:lvl1pPr algn="ctr" rtl="0" eaLnBrk="1" fontAlgn="base" hangingPunct="1">
        <a:spcBef>
          <a:spcPct val="0"/>
        </a:spcBef>
        <a:spcAft>
          <a:spcPct val="0"/>
        </a:spcAft>
        <a:defRPr sz="3000" kern="1200">
          <a:solidFill>
            <a:schemeClr val="tx1"/>
          </a:solidFill>
          <a:latin typeface="+mj-lt"/>
          <a:ea typeface="MS PGothic"/>
          <a:cs typeface="MS PGothic"/>
        </a:defRPr>
      </a:lvl1pPr>
      <a:lvl2pPr algn="ctr" rtl="0" eaLnBrk="1" fontAlgn="base" hangingPunct="1">
        <a:spcBef>
          <a:spcPct val="0"/>
        </a:spcBef>
        <a:spcAft>
          <a:spcPct val="0"/>
        </a:spcAft>
        <a:defRPr sz="3000">
          <a:solidFill>
            <a:schemeClr val="tx1"/>
          </a:solidFill>
          <a:latin typeface="Calibri" charset="0"/>
          <a:ea typeface="MS PGothic"/>
          <a:cs typeface="MS PGothic"/>
        </a:defRPr>
      </a:lvl2pPr>
      <a:lvl3pPr algn="ctr" rtl="0" eaLnBrk="1" fontAlgn="base" hangingPunct="1">
        <a:spcBef>
          <a:spcPct val="0"/>
        </a:spcBef>
        <a:spcAft>
          <a:spcPct val="0"/>
        </a:spcAft>
        <a:defRPr sz="3000">
          <a:solidFill>
            <a:schemeClr val="tx1"/>
          </a:solidFill>
          <a:latin typeface="Calibri" charset="0"/>
          <a:ea typeface="MS PGothic"/>
          <a:cs typeface="MS PGothic"/>
        </a:defRPr>
      </a:lvl3pPr>
      <a:lvl4pPr algn="ctr" rtl="0" eaLnBrk="1" fontAlgn="base" hangingPunct="1">
        <a:spcBef>
          <a:spcPct val="0"/>
        </a:spcBef>
        <a:spcAft>
          <a:spcPct val="0"/>
        </a:spcAft>
        <a:defRPr sz="3000">
          <a:solidFill>
            <a:schemeClr val="tx1"/>
          </a:solidFill>
          <a:latin typeface="Calibri" charset="0"/>
          <a:ea typeface="MS PGothic"/>
          <a:cs typeface="MS PGothic"/>
        </a:defRPr>
      </a:lvl4pPr>
      <a:lvl5pPr algn="ctr" rtl="0" eaLnBrk="1" fontAlgn="base" hangingPunct="1">
        <a:spcBef>
          <a:spcPct val="0"/>
        </a:spcBef>
        <a:spcAft>
          <a:spcPct val="0"/>
        </a:spcAft>
        <a:defRPr sz="3000">
          <a:solidFill>
            <a:schemeClr val="tx1"/>
          </a:solidFill>
          <a:latin typeface="Calibri" charset="0"/>
          <a:ea typeface="MS PGothic"/>
          <a:cs typeface="MS PGothic"/>
        </a:defRPr>
      </a:lvl5pPr>
      <a:lvl6pPr marL="457200" algn="ctr" rtl="0" eaLnBrk="1" fontAlgn="base" hangingPunct="1">
        <a:spcBef>
          <a:spcPct val="0"/>
        </a:spcBef>
        <a:spcAft>
          <a:spcPct val="0"/>
        </a:spcAft>
        <a:defRPr sz="3000">
          <a:solidFill>
            <a:schemeClr val="tx1"/>
          </a:solidFill>
          <a:latin typeface="Calibri" charset="0"/>
          <a:ea typeface="ＭＳ Ｐゴシック" charset="-128"/>
        </a:defRPr>
      </a:lvl6pPr>
      <a:lvl7pPr marL="914400" algn="ctr" rtl="0" eaLnBrk="1" fontAlgn="base" hangingPunct="1">
        <a:spcBef>
          <a:spcPct val="0"/>
        </a:spcBef>
        <a:spcAft>
          <a:spcPct val="0"/>
        </a:spcAft>
        <a:defRPr sz="3000">
          <a:solidFill>
            <a:schemeClr val="tx1"/>
          </a:solidFill>
          <a:latin typeface="Calibri" charset="0"/>
          <a:ea typeface="ＭＳ Ｐゴシック" charset="-128"/>
        </a:defRPr>
      </a:lvl7pPr>
      <a:lvl8pPr marL="1371600" algn="ctr" rtl="0" eaLnBrk="1" fontAlgn="base" hangingPunct="1">
        <a:spcBef>
          <a:spcPct val="0"/>
        </a:spcBef>
        <a:spcAft>
          <a:spcPct val="0"/>
        </a:spcAft>
        <a:defRPr sz="3000">
          <a:solidFill>
            <a:schemeClr val="tx1"/>
          </a:solidFill>
          <a:latin typeface="Calibri" charset="0"/>
          <a:ea typeface="ＭＳ Ｐゴシック" charset="-128"/>
        </a:defRPr>
      </a:lvl8pPr>
      <a:lvl9pPr marL="1828800" algn="ctr" rtl="0" eaLnBrk="1" fontAlgn="base" hangingPunct="1">
        <a:spcBef>
          <a:spcPct val="0"/>
        </a:spcBef>
        <a:spcAft>
          <a:spcPct val="0"/>
        </a:spcAft>
        <a:defRPr sz="3000">
          <a:solidFill>
            <a:schemeClr val="tx1"/>
          </a:solidFill>
          <a:latin typeface="Calibri" charset="0"/>
          <a:ea typeface="ＭＳ Ｐゴシック" charset="-128"/>
        </a:defRPr>
      </a:lvl9pPr>
    </p:titleStyle>
    <p:bodyStyle>
      <a:lvl1pPr marL="342900" indent="-342900" algn="l" rtl="0" eaLnBrk="1" fontAlgn="base" hangingPunct="1">
        <a:spcBef>
          <a:spcPct val="20000"/>
        </a:spcBef>
        <a:spcAft>
          <a:spcPct val="0"/>
        </a:spcAft>
        <a:buFont typeface="Arial" pitchFamily="34" charset="0"/>
        <a:buChar char="•"/>
        <a:defRPr sz="3200" kern="1200">
          <a:solidFill>
            <a:schemeClr val="tx1"/>
          </a:solidFill>
          <a:latin typeface="+mn-lt"/>
          <a:ea typeface="MS PGothic"/>
          <a:cs typeface="MS PGothic"/>
        </a:defRPr>
      </a:lvl1pPr>
      <a:lvl2pPr marL="742950" indent="-285750" algn="l" rtl="0" eaLnBrk="1" fontAlgn="base" hangingPunct="1">
        <a:spcBef>
          <a:spcPct val="20000"/>
        </a:spcBef>
        <a:spcAft>
          <a:spcPct val="0"/>
        </a:spcAft>
        <a:buFont typeface="Arial" pitchFamily="34" charset="0"/>
        <a:buChar char="–"/>
        <a:defRPr sz="2800" kern="1200">
          <a:solidFill>
            <a:schemeClr val="tx1"/>
          </a:solidFill>
          <a:latin typeface="+mn-lt"/>
          <a:ea typeface="MS PGothic"/>
          <a:cs typeface="MS PGothic"/>
        </a:defRPr>
      </a:lvl2pPr>
      <a:lvl3pPr marL="1143000" indent="-228600" algn="l" rtl="0" eaLnBrk="1" fontAlgn="base" hangingPunct="1">
        <a:spcBef>
          <a:spcPct val="20000"/>
        </a:spcBef>
        <a:spcAft>
          <a:spcPct val="0"/>
        </a:spcAft>
        <a:buFont typeface="Arial" pitchFamily="34" charset="0"/>
        <a:buChar char="•"/>
        <a:defRPr sz="2400" kern="1200">
          <a:solidFill>
            <a:schemeClr val="tx1"/>
          </a:solidFill>
          <a:latin typeface="+mn-lt"/>
          <a:ea typeface="MS PGothic"/>
          <a:cs typeface="MS PGothic"/>
        </a:defRPr>
      </a:lvl3pPr>
      <a:lvl4pPr marL="1600200" indent="-228600" algn="l" rtl="0" eaLnBrk="1" fontAlgn="base" hangingPunct="1">
        <a:spcBef>
          <a:spcPct val="20000"/>
        </a:spcBef>
        <a:spcAft>
          <a:spcPct val="0"/>
        </a:spcAft>
        <a:buFont typeface="Arial" pitchFamily="34" charset="0"/>
        <a:buChar char="–"/>
        <a:defRPr sz="2000" kern="1200">
          <a:solidFill>
            <a:schemeClr val="tx1"/>
          </a:solidFill>
          <a:latin typeface="+mn-lt"/>
          <a:ea typeface="MS PGothic"/>
          <a:cs typeface="MS PGothic"/>
        </a:defRPr>
      </a:lvl4pPr>
      <a:lvl5pPr marL="2057400" indent="-228600" algn="l" rtl="0" eaLnBrk="1" fontAlgn="base" hangingPunct="1">
        <a:spcBef>
          <a:spcPct val="20000"/>
        </a:spcBef>
        <a:spcAft>
          <a:spcPct val="0"/>
        </a:spcAft>
        <a:buFont typeface="Arial" pitchFamily="34" charset="0"/>
        <a:buChar char="»"/>
        <a:defRPr sz="2000" kern="1200">
          <a:solidFill>
            <a:schemeClr val="tx1"/>
          </a:solidFill>
          <a:latin typeface="+mn-lt"/>
          <a:ea typeface="MS PGothic"/>
          <a:cs typeface="MS PGothic"/>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eJ3YysWaP_A&amp;t=0s&amp;ab_channel=LamaDev" TargetMode="External"/><Relationship Id="rId2" Type="http://schemas.openxmlformats.org/officeDocument/2006/relationships/hyperlink" Target="https://www.youtube.com/watch?v=HFj5FMb0jwY&amp;t=958s&amp;ab_channel=LamaDev" TargetMode="External"/><Relationship Id="rId1" Type="http://schemas.openxmlformats.org/officeDocument/2006/relationships/slideLayout" Target="../slideLayouts/slideLayout3.xml"/><Relationship Id="rId4" Type="http://schemas.openxmlformats.org/officeDocument/2006/relationships/hyperlink" Target="http://www.google.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3231E2-C615-1E9C-4360-C5ADB62429B7}"/>
              </a:ext>
            </a:extLst>
          </p:cNvPr>
          <p:cNvSpPr>
            <a:spLocks noGrp="1"/>
          </p:cNvSpPr>
          <p:nvPr>
            <p:ph type="sldNum" sz="quarter" idx="12"/>
          </p:nvPr>
        </p:nvSpPr>
        <p:spPr/>
        <p:txBody>
          <a:bodyPr/>
          <a:lstStyle/>
          <a:p>
            <a:fld id="{0F8887D6-2A35-42AC-99C1-5E14D32EE4CF}" type="slidenum">
              <a:rPr lang="en-US" smtClean="0"/>
              <a:pPr/>
              <a:t>1</a:t>
            </a:fld>
            <a:endParaRPr lang="en-US" dirty="0"/>
          </a:p>
        </p:txBody>
      </p:sp>
      <p:sp>
        <p:nvSpPr>
          <p:cNvPr id="4" name="TextBox 3">
            <a:extLst>
              <a:ext uri="{FF2B5EF4-FFF2-40B4-BE49-F238E27FC236}">
                <a16:creationId xmlns:a16="http://schemas.microsoft.com/office/drawing/2014/main" id="{18EEE4B9-3EA1-FDB6-E07B-DF14EF48A849}"/>
              </a:ext>
            </a:extLst>
          </p:cNvPr>
          <p:cNvSpPr txBox="1"/>
          <p:nvPr/>
        </p:nvSpPr>
        <p:spPr>
          <a:xfrm>
            <a:off x="426368" y="889843"/>
            <a:ext cx="8291264" cy="5124480"/>
          </a:xfrm>
          <a:prstGeom prst="rect">
            <a:avLst/>
          </a:prstGeom>
          <a:noFill/>
        </p:spPr>
        <p:txBody>
          <a:bodyPr wrap="square">
            <a:spAutoFit/>
          </a:bodyPr>
          <a:lstStyle/>
          <a:p>
            <a:endParaRPr lang="en-US" dirty="0">
              <a:latin typeface="Times New Roman" panose="02020603050405020304" pitchFamily="18" charset="0"/>
              <a:cs typeface="Times New Roman" panose="02020603050405020304" pitchFamily="18" charset="0"/>
            </a:endParaRPr>
          </a:p>
          <a:p>
            <a:pPr algn="ctr"/>
            <a:r>
              <a:rPr lang="en-US" sz="2000" b="1" dirty="0">
                <a:latin typeface="Times New Roman" panose="02020603050405020304" pitchFamily="18" charset="0"/>
                <a:cs typeface="Times New Roman" panose="02020603050405020304" pitchFamily="18" charset="0"/>
              </a:rPr>
              <a:t>Project Presentation of Industry Oriented Hands on Experience (22CS422)</a:t>
            </a:r>
          </a:p>
          <a:p>
            <a:pPr algn="ctr"/>
            <a:endParaRPr lang="en-US" dirty="0">
              <a:latin typeface="Times New Roman" panose="02020603050405020304" pitchFamily="18" charset="0"/>
              <a:cs typeface="Times New Roman" panose="02020603050405020304" pitchFamily="18" charset="0"/>
            </a:endParaRPr>
          </a:p>
          <a:p>
            <a:pPr algn="ctr"/>
            <a:r>
              <a:rPr lang="en-US" dirty="0">
                <a:latin typeface="Times New Roman" panose="02020603050405020304" pitchFamily="18" charset="0"/>
                <a:cs typeface="Times New Roman" panose="02020603050405020304" pitchFamily="18" charset="0"/>
              </a:rPr>
              <a:t>On</a:t>
            </a:r>
          </a:p>
          <a:p>
            <a:pPr algn="ctr"/>
            <a:endParaRPr lang="en-US" dirty="0">
              <a:latin typeface="Times New Roman" panose="02020603050405020304" pitchFamily="18" charset="0"/>
              <a:cs typeface="Times New Roman" panose="02020603050405020304" pitchFamily="18" charset="0"/>
            </a:endParaRPr>
          </a:p>
          <a:p>
            <a:pPr algn="ctr"/>
            <a:r>
              <a:rPr lang="en-US" sz="1900" b="1" dirty="0">
                <a:latin typeface="Times New Roman" panose="02020603050405020304" pitchFamily="18" charset="0"/>
                <a:cs typeface="Times New Roman" panose="02020603050405020304" pitchFamily="18" charset="0"/>
              </a:rPr>
              <a:t>Digital Forgetting: Is Selective Memory Essential for Artificial Intelligence?</a:t>
            </a:r>
            <a:endParaRPr lang="en-IN" sz="1900" b="1" dirty="0">
              <a:latin typeface="Times New Roman" panose="02020603050405020304" pitchFamily="18" charset="0"/>
              <a:cs typeface="Times New Roman" panose="02020603050405020304" pitchFamily="18" charset="0"/>
            </a:endParaRPr>
          </a:p>
          <a:p>
            <a:pPr algn="ctr"/>
            <a:endParaRPr lang="en-US" dirty="0">
              <a:latin typeface="Times New Roman" panose="02020603050405020304" pitchFamily="18" charset="0"/>
              <a:cs typeface="Times New Roman" panose="02020603050405020304" pitchFamily="18" charset="0"/>
            </a:endParaRPr>
          </a:p>
          <a:p>
            <a:pPr algn="ctr"/>
            <a:r>
              <a:rPr lang="en-US" dirty="0">
                <a:latin typeface="Times New Roman" panose="02020603050405020304" pitchFamily="18" charset="0"/>
                <a:cs typeface="Times New Roman" panose="02020603050405020304" pitchFamily="18" charset="0"/>
              </a:rPr>
              <a:t>Anubha Khanna   - 2210991313</a:t>
            </a:r>
          </a:p>
          <a:p>
            <a:pPr algn="ctr"/>
            <a:r>
              <a:rPr lang="en-US" dirty="0">
                <a:latin typeface="Times New Roman" panose="02020603050405020304" pitchFamily="18" charset="0"/>
                <a:cs typeface="Times New Roman" panose="02020603050405020304" pitchFamily="18" charset="0"/>
              </a:rPr>
              <a:t>Ansh Goyal          - 2210991294</a:t>
            </a:r>
          </a:p>
          <a:p>
            <a:pPr algn="ctr"/>
            <a:r>
              <a:rPr lang="en-US" dirty="0">
                <a:latin typeface="Times New Roman" panose="02020603050405020304" pitchFamily="18" charset="0"/>
                <a:cs typeface="Times New Roman" panose="02020603050405020304" pitchFamily="18" charset="0"/>
              </a:rPr>
              <a:t>Anisha Singh       - 2210991274</a:t>
            </a:r>
          </a:p>
          <a:p>
            <a:pPr algn="ctr"/>
            <a:r>
              <a:rPr lang="en-US" dirty="0">
                <a:latin typeface="Times New Roman" panose="02020603050405020304" pitchFamily="18" charset="0"/>
                <a:cs typeface="Times New Roman" panose="02020603050405020304" pitchFamily="18" charset="0"/>
              </a:rPr>
              <a:t>Abhijeet Sharma  - 2210991150</a:t>
            </a:r>
          </a:p>
          <a:p>
            <a:pPr algn="ctr"/>
            <a:endParaRPr lang="en-US" dirty="0">
              <a:latin typeface="Times New Roman" panose="02020603050405020304" pitchFamily="18" charset="0"/>
              <a:cs typeface="Times New Roman" panose="02020603050405020304" pitchFamily="18" charset="0"/>
            </a:endParaRPr>
          </a:p>
          <a:p>
            <a:pPr algn="ctr"/>
            <a:r>
              <a:rPr lang="en-US" dirty="0">
                <a:latin typeface="Times New Roman" panose="02020603050405020304" pitchFamily="18" charset="0"/>
                <a:cs typeface="Times New Roman" panose="02020603050405020304" pitchFamily="18" charset="0"/>
              </a:rPr>
              <a:t>Supervised By: Dr. Ajay Kumar</a:t>
            </a:r>
          </a:p>
          <a:p>
            <a:pPr algn="ctr"/>
            <a:endParaRPr lang="en-US" dirty="0">
              <a:latin typeface="Times New Roman" panose="02020603050405020304" pitchFamily="18" charset="0"/>
              <a:cs typeface="Times New Roman" panose="02020603050405020304" pitchFamily="18" charset="0"/>
            </a:endParaRPr>
          </a:p>
          <a:p>
            <a:pPr algn="ctr"/>
            <a:endParaRPr lang="en-US" dirty="0">
              <a:latin typeface="Times New Roman" panose="02020603050405020304" pitchFamily="18" charset="0"/>
              <a:cs typeface="Times New Roman" panose="02020603050405020304" pitchFamily="18" charset="0"/>
            </a:endParaRPr>
          </a:p>
          <a:p>
            <a:pPr algn="ctr"/>
            <a:r>
              <a:rPr lang="en-US" dirty="0">
                <a:latin typeface="Times New Roman" panose="02020603050405020304" pitchFamily="18" charset="0"/>
                <a:cs typeface="Times New Roman" panose="02020603050405020304" pitchFamily="18" charset="0"/>
              </a:rPr>
              <a:t>Department of Computer Science and Engineering,</a:t>
            </a:r>
          </a:p>
          <a:p>
            <a:pPr algn="ctr"/>
            <a:endParaRPr lang="en-US" dirty="0">
              <a:latin typeface="Times New Roman" panose="02020603050405020304" pitchFamily="18" charset="0"/>
              <a:cs typeface="Times New Roman" panose="02020603050405020304" pitchFamily="18" charset="0"/>
            </a:endParaRPr>
          </a:p>
          <a:p>
            <a:pPr algn="ctr"/>
            <a:r>
              <a:rPr lang="en-US" dirty="0">
                <a:latin typeface="Times New Roman" panose="02020603050405020304" pitchFamily="18" charset="0"/>
                <a:cs typeface="Times New Roman" panose="02020603050405020304" pitchFamily="18" charset="0"/>
              </a:rPr>
              <a:t>Chitkara University, Punjab</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93452396"/>
      </p:ext>
    </p:extLst>
  </p:cSld>
  <p:clrMapOvr>
    <a:masterClrMapping/>
  </p:clrMapOvr>
  <p:transition advTm="4000">
    <p:cu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7544" y="260648"/>
            <a:ext cx="5400600" cy="584775"/>
          </a:xfrm>
          <a:prstGeom prst="rect">
            <a:avLst/>
          </a:prstGeom>
          <a:noFill/>
        </p:spPr>
        <p:txBody>
          <a:bodyPr wrap="square" rtlCol="0">
            <a:spAutoFit/>
          </a:bodyPr>
          <a:lstStyle/>
          <a:p>
            <a:r>
              <a:rPr lang="en-US" sz="3200" b="1" dirty="0">
                <a:latin typeface="Times New Roman" pitchFamily="18" charset="0"/>
                <a:cs typeface="Times New Roman" pitchFamily="18" charset="0"/>
              </a:rPr>
              <a:t>Table of Contents</a:t>
            </a:r>
            <a:endParaRPr lang="en-US" b="1" dirty="0">
              <a:latin typeface="Times New Roman" pitchFamily="18" charset="0"/>
              <a:cs typeface="Times New Roman" pitchFamily="18" charset="0"/>
            </a:endParaRPr>
          </a:p>
        </p:txBody>
      </p:sp>
      <p:sp>
        <p:nvSpPr>
          <p:cNvPr id="3" name="TextBox 2"/>
          <p:cNvSpPr txBox="1"/>
          <p:nvPr/>
        </p:nvSpPr>
        <p:spPr>
          <a:xfrm>
            <a:off x="707232" y="1124744"/>
            <a:ext cx="6912768" cy="4247317"/>
          </a:xfrm>
          <a:prstGeom prst="rect">
            <a:avLst/>
          </a:prstGeom>
          <a:noFill/>
        </p:spPr>
        <p:txBody>
          <a:bodyPr wrap="square" rtlCol="0">
            <a:spAutoFit/>
          </a:bodyPr>
          <a:lstStyle/>
          <a:p>
            <a:pPr>
              <a:buFont typeface="Arial" pitchFamily="34" charset="0"/>
              <a:buChar char="•"/>
            </a:pPr>
            <a:r>
              <a:rPr lang="en-US" sz="2200" dirty="0">
                <a:latin typeface="Times New Roman" pitchFamily="18" charset="0"/>
                <a:cs typeface="Times New Roman" pitchFamily="18" charset="0"/>
              </a:rPr>
              <a:t> Introduction</a:t>
            </a:r>
          </a:p>
          <a:p>
            <a:pPr>
              <a:buFont typeface="Arial" pitchFamily="34" charset="0"/>
              <a:buChar char="•"/>
            </a:pPr>
            <a:r>
              <a:rPr lang="en-US" sz="2200" dirty="0">
                <a:latin typeface="Times New Roman" pitchFamily="18" charset="0"/>
                <a:cs typeface="Times New Roman" pitchFamily="18" charset="0"/>
              </a:rPr>
              <a:t> Problem Statement</a:t>
            </a:r>
          </a:p>
          <a:p>
            <a:pPr>
              <a:buFont typeface="Arial" pitchFamily="34" charset="0"/>
              <a:buChar char="•"/>
            </a:pPr>
            <a:r>
              <a:rPr lang="en-US" sz="2200" dirty="0">
                <a:latin typeface="Times New Roman" pitchFamily="18" charset="0"/>
                <a:cs typeface="Times New Roman" pitchFamily="18" charset="0"/>
              </a:rPr>
              <a:t> Software interaction</a:t>
            </a:r>
          </a:p>
          <a:p>
            <a:pPr>
              <a:buFont typeface="Arial" pitchFamily="34" charset="0"/>
              <a:buChar char="•"/>
            </a:pPr>
            <a:r>
              <a:rPr lang="en-US" sz="2200" dirty="0">
                <a:latin typeface="Times New Roman" pitchFamily="18" charset="0"/>
                <a:cs typeface="Times New Roman" pitchFamily="18" charset="0"/>
              </a:rPr>
              <a:t> Objectives</a:t>
            </a:r>
          </a:p>
          <a:p>
            <a:pPr>
              <a:buFont typeface="Arial" pitchFamily="34" charset="0"/>
              <a:buChar char="•"/>
            </a:pPr>
            <a:r>
              <a:rPr lang="en-US" sz="2200" dirty="0">
                <a:latin typeface="Times New Roman" pitchFamily="18" charset="0"/>
                <a:cs typeface="Times New Roman" pitchFamily="18" charset="0"/>
              </a:rPr>
              <a:t> SDLC Diagram</a:t>
            </a:r>
          </a:p>
          <a:p>
            <a:pPr>
              <a:buFont typeface="Arial" pitchFamily="34" charset="0"/>
              <a:buChar char="•"/>
            </a:pPr>
            <a:r>
              <a:rPr lang="en-US" sz="2200" dirty="0">
                <a:latin typeface="Times New Roman" pitchFamily="18" charset="0"/>
                <a:cs typeface="Times New Roman" pitchFamily="18" charset="0"/>
              </a:rPr>
              <a:t> Data Flow Diagram</a:t>
            </a:r>
          </a:p>
          <a:p>
            <a:pPr>
              <a:buFont typeface="Arial" pitchFamily="34" charset="0"/>
              <a:buChar char="•"/>
            </a:pPr>
            <a:r>
              <a:rPr lang="en-US" sz="2200" dirty="0">
                <a:latin typeface="Times New Roman" pitchFamily="18" charset="0"/>
                <a:cs typeface="Times New Roman" pitchFamily="18" charset="0"/>
              </a:rPr>
              <a:t> Challenges</a:t>
            </a:r>
          </a:p>
          <a:p>
            <a:pPr>
              <a:buFont typeface="Arial" pitchFamily="34" charset="0"/>
              <a:buChar char="•"/>
            </a:pPr>
            <a:r>
              <a:rPr lang="en-US" sz="2200" dirty="0">
                <a:latin typeface="Times New Roman" pitchFamily="18" charset="0"/>
                <a:cs typeface="Times New Roman" pitchFamily="18" charset="0"/>
              </a:rPr>
              <a:t> Project Preview</a:t>
            </a:r>
          </a:p>
          <a:p>
            <a:pPr>
              <a:buFont typeface="Arial" pitchFamily="34" charset="0"/>
              <a:buChar char="•"/>
            </a:pPr>
            <a:r>
              <a:rPr lang="en-US" sz="2200" dirty="0">
                <a:latin typeface="Times New Roman" pitchFamily="18" charset="0"/>
                <a:cs typeface="Times New Roman" pitchFamily="18" charset="0"/>
              </a:rPr>
              <a:t> Future scope</a:t>
            </a:r>
          </a:p>
          <a:p>
            <a:pPr>
              <a:buFont typeface="Arial" pitchFamily="34" charset="0"/>
              <a:buChar char="•"/>
            </a:pPr>
            <a:r>
              <a:rPr lang="en-US" sz="2200" dirty="0">
                <a:latin typeface="Times New Roman" pitchFamily="18" charset="0"/>
                <a:cs typeface="Times New Roman" pitchFamily="18" charset="0"/>
              </a:rPr>
              <a:t> References/Links used</a:t>
            </a:r>
          </a:p>
          <a:p>
            <a:pPr>
              <a:buFont typeface="Arial" pitchFamily="34" charset="0"/>
              <a:buChar char="•"/>
            </a:pPr>
            <a:endParaRPr lang="en-US" sz="2200" dirty="0">
              <a:latin typeface="Times New Roman" pitchFamily="18" charset="0"/>
              <a:cs typeface="Times New Roman" pitchFamily="18" charset="0"/>
            </a:endParaRPr>
          </a:p>
          <a:p>
            <a:pPr>
              <a:buFont typeface="Arial" pitchFamily="34" charset="0"/>
              <a:buChar char="•"/>
            </a:pPr>
            <a:endParaRPr lang="en-US" sz="2800" dirty="0">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0F8887D6-2A35-42AC-99C1-5E14D32EE4CF}" type="slidenum">
              <a:rPr lang="en-US" smtClean="0"/>
              <a:pPr/>
              <a:t>2</a:t>
            </a:fld>
            <a:endParaRPr lang="en-US" dirty="0"/>
          </a:p>
        </p:txBody>
      </p:sp>
    </p:spTree>
  </p:cSld>
  <p:clrMapOvr>
    <a:masterClrMapping/>
  </p:clrMapOvr>
  <p:transition advTm="4000">
    <p:cut/>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7544" y="260648"/>
            <a:ext cx="5400600" cy="584775"/>
          </a:xfrm>
          <a:prstGeom prst="rect">
            <a:avLst/>
          </a:prstGeom>
          <a:noFill/>
        </p:spPr>
        <p:txBody>
          <a:bodyPr wrap="square" rtlCol="0">
            <a:spAutoFit/>
          </a:bodyPr>
          <a:lstStyle/>
          <a:p>
            <a:r>
              <a:rPr lang="en-US" sz="3200" b="1" dirty="0">
                <a:latin typeface="Times New Roman" pitchFamily="18" charset="0"/>
                <a:cs typeface="Times New Roman" pitchFamily="18" charset="0"/>
              </a:rPr>
              <a:t>Introduction</a:t>
            </a:r>
          </a:p>
        </p:txBody>
      </p:sp>
      <p:sp>
        <p:nvSpPr>
          <p:cNvPr id="3" name="Rectangle 2"/>
          <p:cNvSpPr/>
          <p:nvPr/>
        </p:nvSpPr>
        <p:spPr>
          <a:xfrm>
            <a:off x="395536" y="1196752"/>
            <a:ext cx="8136904" cy="4801314"/>
          </a:xfrm>
          <a:prstGeom prst="rect">
            <a:avLst/>
          </a:prstGeom>
        </p:spPr>
        <p:txBody>
          <a:bodyPr wrap="square">
            <a:spAutoFit/>
          </a:bodyPr>
          <a:lstStyle/>
          <a:p>
            <a:r>
              <a:rPr lang="en-US" dirty="0">
                <a:latin typeface="Times New Roman" panose="02020603050405020304" pitchFamily="18" charset="0"/>
                <a:cs typeface="Times New Roman" panose="02020603050405020304" pitchFamily="18" charset="0"/>
              </a:rPr>
              <a:t>Artificial Intelligence is one of the most important technologies in today’s digital world. It is used in many domains such as healthcare, finance, transportation, e-commerce, and education. Systems like recommendation engines, virtual assistants, fraud detection systems, and autonomous vehicles depend heavily on AI to process large amounts of data and make intelligent decisions.</a:t>
            </a:r>
          </a:p>
          <a:p>
            <a:r>
              <a:rPr lang="en-US" dirty="0">
                <a:latin typeface="Times New Roman" panose="02020603050405020304" pitchFamily="18" charset="0"/>
                <a:cs typeface="Times New Roman" panose="02020603050405020304" pitchFamily="18" charset="0"/>
              </a:rPr>
              <a:t>Most AI systems are built on the assumption that </a:t>
            </a:r>
            <a:r>
              <a:rPr lang="en-US" b="1" dirty="0">
                <a:latin typeface="Times New Roman" panose="02020603050405020304" pitchFamily="18" charset="0"/>
                <a:cs typeface="Times New Roman" panose="02020603050405020304" pitchFamily="18" charset="0"/>
              </a:rPr>
              <a:t>more data leads to better performance</a:t>
            </a:r>
            <a:r>
              <a:rPr lang="en-US" dirty="0">
                <a:latin typeface="Times New Roman" panose="02020603050405020304" pitchFamily="18" charset="0"/>
                <a:cs typeface="Times New Roman" panose="02020603050405020304" pitchFamily="18" charset="0"/>
              </a:rPr>
              <a:t>. While this is true initially, continuous accumulation of data creates several long-term problems. As data grows, it increases storage requirements, slows down processing, and introduces outdated or irrelevant information into the system.</a:t>
            </a:r>
          </a:p>
          <a:p>
            <a:r>
              <a:rPr lang="en-US" dirty="0">
                <a:latin typeface="Times New Roman" panose="02020603050405020304" pitchFamily="18" charset="0"/>
                <a:cs typeface="Times New Roman" panose="02020603050405020304" pitchFamily="18" charset="0"/>
              </a:rPr>
              <a:t>In contrast, human intelligence works differently. The human brain does not store everything permanently. It selectively retains useful information and gradually forgets less important details. This process reduces cognitive load and improves decision-making.</a:t>
            </a:r>
          </a:p>
          <a:p>
            <a:r>
              <a:rPr lang="en-US" dirty="0">
                <a:latin typeface="Times New Roman" panose="02020603050405020304" pitchFamily="18" charset="0"/>
                <a:cs typeface="Times New Roman" panose="02020603050405020304" pitchFamily="18" charset="0"/>
              </a:rPr>
              <a:t>Inspired by this, our research introduces the concept of </a:t>
            </a:r>
            <a:r>
              <a:rPr lang="en-US" b="1" dirty="0">
                <a:latin typeface="Times New Roman" panose="02020603050405020304" pitchFamily="18" charset="0"/>
                <a:cs typeface="Times New Roman" panose="02020603050405020304" pitchFamily="18" charset="0"/>
              </a:rPr>
              <a:t>digital forgetting</a:t>
            </a:r>
            <a:r>
              <a:rPr lang="en-US" dirty="0">
                <a:latin typeface="Times New Roman" panose="02020603050405020304" pitchFamily="18" charset="0"/>
                <a:cs typeface="Times New Roman" panose="02020603050405020304" pitchFamily="18" charset="0"/>
              </a:rPr>
              <a:t>, where AI systems intelligently remove unnecessary or outdated data while retaining valuable information. This helps AI systems become more efficient, adaptive, and closer to human-like intelligence.</a:t>
            </a:r>
          </a:p>
        </p:txBody>
      </p:sp>
      <p:sp>
        <p:nvSpPr>
          <p:cNvPr id="5" name="Slide Number Placeholder 4"/>
          <p:cNvSpPr>
            <a:spLocks noGrp="1"/>
          </p:cNvSpPr>
          <p:nvPr>
            <p:ph type="sldNum" sz="quarter" idx="12"/>
          </p:nvPr>
        </p:nvSpPr>
        <p:spPr/>
        <p:txBody>
          <a:bodyPr/>
          <a:lstStyle/>
          <a:p>
            <a:fld id="{0F8887D6-2A35-42AC-99C1-5E14D32EE4CF}" type="slidenum">
              <a:rPr lang="en-US" smtClean="0"/>
              <a:pPr/>
              <a:t>3</a:t>
            </a:fld>
            <a:endParaRPr lang="en-US" dirty="0"/>
          </a:p>
        </p:txBody>
      </p:sp>
    </p:spTree>
  </p:cSld>
  <p:clrMapOvr>
    <a:masterClrMapping/>
  </p:clrMapOvr>
  <p:transition advTm="4000">
    <p:cut/>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7544" y="260648"/>
            <a:ext cx="5400600" cy="584775"/>
          </a:xfrm>
          <a:prstGeom prst="rect">
            <a:avLst/>
          </a:prstGeom>
          <a:noFill/>
        </p:spPr>
        <p:txBody>
          <a:bodyPr wrap="square" rtlCol="0">
            <a:spAutoFit/>
          </a:bodyPr>
          <a:lstStyle/>
          <a:p>
            <a:r>
              <a:rPr lang="en-US" sz="3200" b="1" dirty="0">
                <a:latin typeface="Times New Roman" pitchFamily="18" charset="0"/>
                <a:cs typeface="Times New Roman" pitchFamily="18" charset="0"/>
              </a:rPr>
              <a:t>Problem</a:t>
            </a:r>
            <a:r>
              <a:rPr lang="en-US" sz="3200" dirty="0">
                <a:latin typeface="Times New Roman" pitchFamily="18" charset="0"/>
                <a:cs typeface="Times New Roman" pitchFamily="18" charset="0"/>
              </a:rPr>
              <a:t> </a:t>
            </a:r>
            <a:r>
              <a:rPr lang="en-US" sz="3200" b="1" dirty="0">
                <a:latin typeface="Times New Roman" pitchFamily="18" charset="0"/>
                <a:cs typeface="Times New Roman" pitchFamily="18" charset="0"/>
              </a:rPr>
              <a:t>Statement</a:t>
            </a:r>
          </a:p>
        </p:txBody>
      </p:sp>
      <p:sp>
        <p:nvSpPr>
          <p:cNvPr id="4" name="TextBox 3">
            <a:extLst>
              <a:ext uri="{FF2B5EF4-FFF2-40B4-BE49-F238E27FC236}">
                <a16:creationId xmlns:a16="http://schemas.microsoft.com/office/drawing/2014/main" id="{1177875A-E5A9-D435-C66C-D6A2858A5B1F}"/>
              </a:ext>
            </a:extLst>
          </p:cNvPr>
          <p:cNvSpPr txBox="1"/>
          <p:nvPr/>
        </p:nvSpPr>
        <p:spPr>
          <a:xfrm>
            <a:off x="467544" y="1268760"/>
            <a:ext cx="8136904" cy="3877985"/>
          </a:xfrm>
          <a:prstGeom prst="rect">
            <a:avLst/>
          </a:prstGeom>
          <a:noFill/>
        </p:spPr>
        <p:txBody>
          <a:bodyPr wrap="square" rtlCol="0">
            <a:spAutoFit/>
          </a:bodyPr>
          <a:lstStyle/>
          <a:p>
            <a:pPr>
              <a:buNone/>
            </a:pPr>
            <a:r>
              <a:rPr lang="en-US" dirty="0">
                <a:latin typeface="Times New Roman" panose="02020603050405020304" pitchFamily="18" charset="0"/>
                <a:cs typeface="Times New Roman" panose="02020603050405020304" pitchFamily="18" charset="0"/>
              </a:rPr>
              <a:t>Modern AI systems face several major challenges due to uncontrolled data storage.</a:t>
            </a:r>
          </a:p>
          <a:p>
            <a:pPr>
              <a:buNone/>
            </a:pPr>
            <a:r>
              <a:rPr lang="en-US" dirty="0">
                <a:latin typeface="Times New Roman" panose="02020603050405020304" pitchFamily="18" charset="0"/>
                <a:cs typeface="Times New Roman" panose="02020603050405020304" pitchFamily="18" charset="0"/>
              </a:rPr>
              <a:t>First, there is </a:t>
            </a:r>
            <a:r>
              <a:rPr lang="en-US" b="1" dirty="0">
                <a:latin typeface="Times New Roman" panose="02020603050405020304" pitchFamily="18" charset="0"/>
                <a:cs typeface="Times New Roman" panose="02020603050405020304" pitchFamily="18" charset="0"/>
              </a:rPr>
              <a:t>data overload</a:t>
            </a:r>
            <a:r>
              <a:rPr lang="en-US" dirty="0">
                <a:latin typeface="Times New Roman" panose="02020603050405020304" pitchFamily="18" charset="0"/>
                <a:cs typeface="Times New Roman" panose="02020603050405020304" pitchFamily="18" charset="0"/>
              </a:rPr>
              <a:t>. AI systems continuously collect data from users, sensors, and applications. This leads to exponential growth in stored data, making systems difficult to manage.</a:t>
            </a:r>
          </a:p>
          <a:p>
            <a:pPr>
              <a:buNone/>
            </a:pPr>
            <a:r>
              <a:rPr lang="en-US" dirty="0">
                <a:latin typeface="Times New Roman" panose="02020603050405020304" pitchFamily="18" charset="0"/>
                <a:cs typeface="Times New Roman" panose="02020603050405020304" pitchFamily="18" charset="0"/>
              </a:rPr>
              <a:t>Second, </a:t>
            </a:r>
            <a:r>
              <a:rPr lang="en-US" b="1" dirty="0">
                <a:latin typeface="Times New Roman" panose="02020603050405020304" pitchFamily="18" charset="0"/>
                <a:cs typeface="Times New Roman" panose="02020603050405020304" pitchFamily="18" charset="0"/>
              </a:rPr>
              <a:t>computational complexity increases</a:t>
            </a:r>
            <a:r>
              <a:rPr lang="en-US" dirty="0">
                <a:latin typeface="Times New Roman" panose="02020603050405020304" pitchFamily="18" charset="0"/>
                <a:cs typeface="Times New Roman" panose="02020603050405020304" pitchFamily="18" charset="0"/>
              </a:rPr>
              <a:t>. Larger datasets require more processing power, which slows down training and prediction.</a:t>
            </a:r>
          </a:p>
          <a:p>
            <a:pPr>
              <a:buNone/>
            </a:pPr>
            <a:r>
              <a:rPr lang="en-US" dirty="0">
                <a:latin typeface="Times New Roman" panose="02020603050405020304" pitchFamily="18" charset="0"/>
                <a:cs typeface="Times New Roman" panose="02020603050405020304" pitchFamily="18" charset="0"/>
              </a:rPr>
              <a:t>Third, </a:t>
            </a:r>
            <a:r>
              <a:rPr lang="en-US" b="1" dirty="0">
                <a:latin typeface="Times New Roman" panose="02020603050405020304" pitchFamily="18" charset="0"/>
                <a:cs typeface="Times New Roman" panose="02020603050405020304" pitchFamily="18" charset="0"/>
              </a:rPr>
              <a:t>outdated data remains in the system</a:t>
            </a:r>
            <a:r>
              <a:rPr lang="en-US" dirty="0">
                <a:latin typeface="Times New Roman" panose="02020603050405020304" pitchFamily="18" charset="0"/>
                <a:cs typeface="Times New Roman" panose="02020603050405020304" pitchFamily="18" charset="0"/>
              </a:rPr>
              <a:t>. Old data may not represent current trends and can negatively affect predictions.</a:t>
            </a:r>
          </a:p>
          <a:p>
            <a:pPr>
              <a:buNone/>
            </a:pPr>
            <a:r>
              <a:rPr lang="en-US" dirty="0">
                <a:latin typeface="Times New Roman" panose="02020603050405020304" pitchFamily="18" charset="0"/>
                <a:cs typeface="Times New Roman" panose="02020603050405020304" pitchFamily="18" charset="0"/>
              </a:rPr>
              <a:t>Fourth, there are </a:t>
            </a:r>
            <a:r>
              <a:rPr lang="en-US" b="1" dirty="0">
                <a:latin typeface="Times New Roman" panose="02020603050405020304" pitchFamily="18" charset="0"/>
                <a:cs typeface="Times New Roman" panose="02020603050405020304" pitchFamily="18" charset="0"/>
              </a:rPr>
              <a:t>privacy concerns</a:t>
            </a:r>
            <a:r>
              <a:rPr lang="en-US" dirty="0">
                <a:latin typeface="Times New Roman" panose="02020603050405020304" pitchFamily="18" charset="0"/>
                <a:cs typeface="Times New Roman" panose="02020603050405020304" pitchFamily="18" charset="0"/>
              </a:rPr>
              <a:t>. Storing personal data indefinitely can violate regulations such as GDPR, which includes the “right to be forgotten.”</a:t>
            </a:r>
          </a:p>
          <a:p>
            <a:pPr>
              <a:buNone/>
            </a:pPr>
            <a:r>
              <a:rPr lang="en-US" dirty="0">
                <a:latin typeface="Times New Roman" panose="02020603050405020304" pitchFamily="18" charset="0"/>
                <a:cs typeface="Times New Roman" panose="02020603050405020304" pitchFamily="18" charset="0"/>
              </a:rPr>
              <a:t>Finally, </a:t>
            </a:r>
            <a:r>
              <a:rPr lang="en-US" b="1" dirty="0">
                <a:latin typeface="Times New Roman" panose="02020603050405020304" pitchFamily="18" charset="0"/>
                <a:cs typeface="Times New Roman" panose="02020603050405020304" pitchFamily="18" charset="0"/>
              </a:rPr>
              <a:t>resource consumption increases</a:t>
            </a:r>
            <a:r>
              <a:rPr lang="en-US" dirty="0">
                <a:latin typeface="Times New Roman" panose="02020603050405020304" pitchFamily="18" charset="0"/>
                <a:cs typeface="Times New Roman" panose="02020603050405020304" pitchFamily="18" charset="0"/>
              </a:rPr>
              <a:t>, leading to higher storage and operational costs.</a:t>
            </a:r>
          </a:p>
          <a:p>
            <a:endParaRPr lang="en-IN" sz="2400" dirty="0">
              <a:latin typeface="Times New Roman" panose="02020603050405020304" pitchFamily="18" charset="0"/>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fld id="{0F8887D6-2A35-42AC-99C1-5E14D32EE4CF}" type="slidenum">
              <a:rPr lang="en-US" smtClean="0"/>
              <a:pPr/>
              <a:t>4</a:t>
            </a:fld>
            <a:endParaRPr lang="en-US" dirty="0"/>
          </a:p>
        </p:txBody>
      </p:sp>
    </p:spTree>
  </p:cSld>
  <p:clrMapOvr>
    <a:masterClrMapping/>
  </p:clrMapOvr>
  <p:transition advTm="4000">
    <p:cut/>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7544" y="260648"/>
            <a:ext cx="5400600" cy="584775"/>
          </a:xfrm>
          <a:prstGeom prst="rect">
            <a:avLst/>
          </a:prstGeom>
          <a:noFill/>
        </p:spPr>
        <p:txBody>
          <a:bodyPr wrap="square" rtlCol="0">
            <a:spAutoFit/>
          </a:bodyPr>
          <a:lstStyle/>
          <a:p>
            <a:r>
              <a:rPr lang="en-US" sz="3200" b="1" dirty="0">
                <a:latin typeface="Times New Roman" pitchFamily="18" charset="0"/>
                <a:cs typeface="Times New Roman" pitchFamily="18" charset="0"/>
              </a:rPr>
              <a:t>Software</a:t>
            </a:r>
            <a:r>
              <a:rPr lang="en-US" sz="3200" dirty="0">
                <a:latin typeface="Times New Roman" pitchFamily="18" charset="0"/>
                <a:cs typeface="Times New Roman" pitchFamily="18" charset="0"/>
              </a:rPr>
              <a:t> </a:t>
            </a:r>
            <a:r>
              <a:rPr lang="en-US" sz="3200" b="1" dirty="0">
                <a:latin typeface="Times New Roman" pitchFamily="18" charset="0"/>
                <a:cs typeface="Times New Roman" pitchFamily="18" charset="0"/>
              </a:rPr>
              <a:t>Interaction</a:t>
            </a:r>
          </a:p>
        </p:txBody>
      </p:sp>
      <p:sp>
        <p:nvSpPr>
          <p:cNvPr id="3" name="Rectangle 2"/>
          <p:cNvSpPr/>
          <p:nvPr/>
        </p:nvSpPr>
        <p:spPr>
          <a:xfrm>
            <a:off x="457200" y="986136"/>
            <a:ext cx="8136904" cy="5724644"/>
          </a:xfrm>
          <a:prstGeom prst="rect">
            <a:avLst/>
          </a:prstGeom>
        </p:spPr>
        <p:txBody>
          <a:bodyPr wrap="square">
            <a:spAutoFit/>
          </a:bodyPr>
          <a:lstStyle/>
          <a:p>
            <a:r>
              <a:rPr lang="en-US" dirty="0">
                <a:latin typeface="Times New Roman" panose="02020603050405020304" pitchFamily="18" charset="0"/>
                <a:cs typeface="Times New Roman" panose="02020603050405020304" pitchFamily="18" charset="0"/>
              </a:rPr>
              <a:t>The </a:t>
            </a:r>
            <a:r>
              <a:rPr lang="en-US" dirty="0" err="1">
                <a:latin typeface="Times New Roman" panose="02020603050405020304" pitchFamily="18" charset="0"/>
                <a:cs typeface="Times New Roman" panose="02020603050405020304" pitchFamily="18" charset="0"/>
              </a:rPr>
              <a:t>ForgetAI</a:t>
            </a:r>
            <a:r>
              <a:rPr lang="en-US" dirty="0">
                <a:latin typeface="Times New Roman" panose="02020603050405020304" pitchFamily="18" charset="0"/>
                <a:cs typeface="Times New Roman" panose="02020603050405020304" pitchFamily="18" charset="0"/>
              </a:rPr>
              <a:t> system demonstrates how digital forgetting works in practice.</a:t>
            </a:r>
          </a:p>
          <a:p>
            <a:r>
              <a:rPr lang="en-US" dirty="0">
                <a:latin typeface="Times New Roman" panose="02020603050405020304" pitchFamily="18" charset="0"/>
                <a:cs typeface="Times New Roman" panose="02020603050405020304" pitchFamily="18" charset="0"/>
              </a:rPr>
              <a:t>When a user inputs data (such as text or messages), the system stores it in a database along with metadata like importance, usage, and timestamp.</a:t>
            </a:r>
          </a:p>
          <a:p>
            <a:r>
              <a:rPr lang="en-US" dirty="0">
                <a:latin typeface="Times New Roman" panose="02020603050405020304" pitchFamily="18" charset="0"/>
                <a:cs typeface="Times New Roman" panose="02020603050405020304" pitchFamily="18" charset="0"/>
              </a:rPr>
              <a:t>The system then processes this data using a mathematical model. It calculates a score based on: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Importance of the data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Frequency of usage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Time elapsed (decay factor) </a:t>
            </a:r>
          </a:p>
          <a:p>
            <a:r>
              <a:rPr lang="en-US" dirty="0">
                <a:latin typeface="Times New Roman" panose="02020603050405020304" pitchFamily="18" charset="0"/>
                <a:cs typeface="Times New Roman" panose="02020603050405020304" pitchFamily="18" charset="0"/>
              </a:rPr>
              <a:t>Based on this score: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High-score data is retained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Low-score data is removed </a:t>
            </a:r>
          </a:p>
          <a:p>
            <a:r>
              <a:rPr lang="en-US" dirty="0">
                <a:latin typeface="Times New Roman" panose="02020603050405020304" pitchFamily="18" charset="0"/>
                <a:cs typeface="Times New Roman" panose="02020603050405020304" pitchFamily="18" charset="0"/>
              </a:rPr>
              <a:t>The results are displayed on a dashboard where users can see: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Stored data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Forgotten data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Memory efficiency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Graphs and comparisons </a:t>
            </a:r>
          </a:p>
          <a:p>
            <a:r>
              <a:rPr lang="en-US" b="1" dirty="0">
                <a:latin typeface="Times New Roman" panose="02020603050405020304" pitchFamily="18" charset="0"/>
                <a:cs typeface="Times New Roman" panose="02020603050405020304" pitchFamily="18" charset="0"/>
              </a:rPr>
              <a:t>=&gt;</a:t>
            </a:r>
            <a:r>
              <a:rPr lang="en-US" dirty="0">
                <a:latin typeface="Times New Roman" panose="02020603050405020304" pitchFamily="18" charset="0"/>
                <a:cs typeface="Times New Roman" panose="02020603050405020304" pitchFamily="18" charset="0"/>
              </a:rPr>
              <a:t>This creates a clear comparison between:</a:t>
            </a:r>
          </a:p>
          <a:p>
            <a:r>
              <a:rPr lang="en-US" dirty="0">
                <a:latin typeface="Times New Roman" panose="02020603050405020304" pitchFamily="18" charset="0"/>
                <a:cs typeface="Times New Roman" panose="02020603050405020304" pitchFamily="18" charset="0"/>
              </a:rPr>
              <a:t>Normal AI (stores everything) </a:t>
            </a:r>
          </a:p>
          <a:p>
            <a:r>
              <a:rPr lang="en-US" dirty="0" err="1">
                <a:latin typeface="Times New Roman" panose="02020603050405020304" pitchFamily="18" charset="0"/>
                <a:cs typeface="Times New Roman" panose="02020603050405020304" pitchFamily="18" charset="0"/>
              </a:rPr>
              <a:t>ForgetAI</a:t>
            </a:r>
            <a:r>
              <a:rPr lang="en-US" dirty="0">
                <a:latin typeface="Times New Roman" panose="02020603050405020304" pitchFamily="18" charset="0"/>
                <a:cs typeface="Times New Roman" panose="02020603050405020304" pitchFamily="18" charset="0"/>
              </a:rPr>
              <a:t> (filters data intelligently) </a:t>
            </a:r>
          </a:p>
          <a:p>
            <a:endParaRPr lang="en-US" sz="2400" dirty="0">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0F8887D6-2A35-42AC-99C1-5E14D32EE4CF}" type="slidenum">
              <a:rPr lang="en-US" smtClean="0"/>
              <a:pPr/>
              <a:t>5</a:t>
            </a:fld>
            <a:endParaRPr lang="en-US" dirty="0"/>
          </a:p>
        </p:txBody>
      </p:sp>
    </p:spTree>
  </p:cSld>
  <p:clrMapOvr>
    <a:masterClrMapping/>
  </p:clrMapOvr>
  <p:transition advTm="4000">
    <p:cut/>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7544" y="260648"/>
            <a:ext cx="5400600" cy="584775"/>
          </a:xfrm>
          <a:prstGeom prst="rect">
            <a:avLst/>
          </a:prstGeom>
          <a:noFill/>
        </p:spPr>
        <p:txBody>
          <a:bodyPr wrap="square" rtlCol="0">
            <a:spAutoFit/>
          </a:bodyPr>
          <a:lstStyle/>
          <a:p>
            <a:r>
              <a:rPr lang="en-US" sz="3200" b="1" dirty="0">
                <a:latin typeface="Times New Roman" pitchFamily="18" charset="0"/>
                <a:cs typeface="Times New Roman" pitchFamily="18" charset="0"/>
              </a:rPr>
              <a:t>Objectives</a:t>
            </a:r>
          </a:p>
        </p:txBody>
      </p:sp>
      <p:sp>
        <p:nvSpPr>
          <p:cNvPr id="3" name="Rectangle 2"/>
          <p:cNvSpPr/>
          <p:nvPr/>
        </p:nvSpPr>
        <p:spPr>
          <a:xfrm>
            <a:off x="395536" y="1196752"/>
            <a:ext cx="8136904" cy="2800767"/>
          </a:xfrm>
          <a:prstGeom prst="rect">
            <a:avLst/>
          </a:prstGeom>
        </p:spPr>
        <p:txBody>
          <a:bodyPr wrap="square">
            <a:spAutoFit/>
          </a:bodyPr>
          <a:lstStyle/>
          <a:p>
            <a:r>
              <a:rPr lang="en-US" sz="2000" dirty="0">
                <a:latin typeface="Times New Roman" panose="02020603050405020304" pitchFamily="18" charset="0"/>
                <a:cs typeface="Times New Roman" panose="02020603050405020304" pitchFamily="18" charset="0"/>
              </a:rPr>
              <a:t>The main objectives of this research are:</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 introduce the concept of digital forgetting in AI systems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 reduce memory overload and improve system efficiency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 remove outdated and irrelevant data automatically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 improve decision-making by retaining only useful information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 enhance privacy and comply with data protection laws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 develop AI systems that behave more like human memory</a:t>
            </a:r>
          </a:p>
          <a:p>
            <a:pPr marL="457200" indent="-457200" algn="l">
              <a:buFont typeface="Arial" panose="020B0604020202020204" pitchFamily="34" charset="0"/>
              <a:buChar char="•"/>
            </a:pPr>
            <a:endParaRPr lang="en-US" sz="2800" b="0" i="0" dirty="0">
              <a:solidFill>
                <a:schemeClr val="tx1">
                  <a:lumMod val="95000"/>
                  <a:lumOff val="5000"/>
                </a:schemeClr>
              </a:solidFill>
              <a:effectLst/>
              <a:latin typeface="clcicgqyw0002obe2xroteu2c"/>
            </a:endParaRPr>
          </a:p>
        </p:txBody>
      </p:sp>
      <p:sp>
        <p:nvSpPr>
          <p:cNvPr id="5" name="Slide Number Placeholder 4"/>
          <p:cNvSpPr>
            <a:spLocks noGrp="1"/>
          </p:cNvSpPr>
          <p:nvPr>
            <p:ph type="sldNum" sz="quarter" idx="12"/>
          </p:nvPr>
        </p:nvSpPr>
        <p:spPr/>
        <p:txBody>
          <a:bodyPr/>
          <a:lstStyle/>
          <a:p>
            <a:fld id="{0F8887D6-2A35-42AC-99C1-5E14D32EE4CF}" type="slidenum">
              <a:rPr lang="en-US" smtClean="0"/>
              <a:pPr/>
              <a:t>6</a:t>
            </a:fld>
            <a:endParaRPr lang="en-US" dirty="0"/>
          </a:p>
        </p:txBody>
      </p:sp>
    </p:spTree>
  </p:cSld>
  <p:clrMapOvr>
    <a:masterClrMapping/>
  </p:clrMapOvr>
  <p:transition advTm="4000">
    <p:cut/>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7544" y="100012"/>
            <a:ext cx="5400600" cy="584775"/>
          </a:xfrm>
          <a:prstGeom prst="rect">
            <a:avLst/>
          </a:prstGeom>
          <a:noFill/>
        </p:spPr>
        <p:txBody>
          <a:bodyPr wrap="square" rtlCol="0">
            <a:spAutoFit/>
          </a:bodyPr>
          <a:lstStyle/>
          <a:p>
            <a:r>
              <a:rPr lang="en-US" sz="3200" b="1" dirty="0">
                <a:latin typeface="Times New Roman" pitchFamily="18" charset="0"/>
                <a:cs typeface="Times New Roman" pitchFamily="18" charset="0"/>
              </a:rPr>
              <a:t>SDLC</a:t>
            </a:r>
            <a:r>
              <a:rPr lang="en-US" sz="3200" dirty="0">
                <a:latin typeface="Times New Roman" pitchFamily="18" charset="0"/>
                <a:cs typeface="Times New Roman" pitchFamily="18" charset="0"/>
              </a:rPr>
              <a:t> </a:t>
            </a:r>
            <a:r>
              <a:rPr lang="en-US" sz="3200" b="1" dirty="0">
                <a:latin typeface="Times New Roman" pitchFamily="18" charset="0"/>
                <a:cs typeface="Times New Roman" pitchFamily="18" charset="0"/>
              </a:rPr>
              <a:t>Diagram</a:t>
            </a:r>
          </a:p>
        </p:txBody>
      </p:sp>
      <p:sp>
        <p:nvSpPr>
          <p:cNvPr id="5" name="Slide Number Placeholder 4"/>
          <p:cNvSpPr>
            <a:spLocks noGrp="1"/>
          </p:cNvSpPr>
          <p:nvPr>
            <p:ph type="sldNum" sz="quarter" idx="12"/>
          </p:nvPr>
        </p:nvSpPr>
        <p:spPr/>
        <p:txBody>
          <a:bodyPr/>
          <a:lstStyle/>
          <a:p>
            <a:fld id="{0F8887D6-2A35-42AC-99C1-5E14D32EE4CF}" type="slidenum">
              <a:rPr lang="en-US" smtClean="0"/>
              <a:pPr/>
              <a:t>7</a:t>
            </a:fld>
            <a:endParaRPr lang="en-US" dirty="0"/>
          </a:p>
        </p:txBody>
      </p:sp>
      <p:pic>
        <p:nvPicPr>
          <p:cNvPr id="6" name="Picture 5">
            <a:extLst>
              <a:ext uri="{FF2B5EF4-FFF2-40B4-BE49-F238E27FC236}">
                <a16:creationId xmlns:a16="http://schemas.microsoft.com/office/drawing/2014/main" id="{B60BD5F4-5D58-E6F5-C227-D4267A9FAC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52736"/>
            <a:ext cx="9144000" cy="5142586"/>
          </a:xfrm>
          <a:prstGeom prst="rect">
            <a:avLst/>
          </a:prstGeom>
        </p:spPr>
      </p:pic>
    </p:spTree>
  </p:cSld>
  <p:clrMapOvr>
    <a:masterClrMapping/>
  </p:clrMapOvr>
  <p:transition advTm="4000">
    <p:cut/>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82D40-2DB2-B4FC-8E9E-36E75999EAA1}"/>
              </a:ext>
            </a:extLst>
          </p:cNvPr>
          <p:cNvSpPr>
            <a:spLocks noGrp="1"/>
          </p:cNvSpPr>
          <p:nvPr>
            <p:ph type="title"/>
          </p:nvPr>
        </p:nvSpPr>
        <p:spPr/>
        <p:txBody>
          <a:bodyPr/>
          <a:lstStyle/>
          <a:p>
            <a:pPr algn="l"/>
            <a:r>
              <a:rPr lang="en-IN" dirty="0"/>
              <a:t>  </a:t>
            </a:r>
            <a:r>
              <a:rPr lang="en-IN" b="1" dirty="0"/>
              <a:t>SDLC</a:t>
            </a:r>
            <a:r>
              <a:rPr lang="en-IN" dirty="0"/>
              <a:t> </a:t>
            </a:r>
            <a:r>
              <a:rPr lang="en-IN" b="1" dirty="0"/>
              <a:t>Diagram</a:t>
            </a:r>
          </a:p>
        </p:txBody>
      </p:sp>
      <p:sp>
        <p:nvSpPr>
          <p:cNvPr id="3" name="Content Placeholder 2">
            <a:extLst>
              <a:ext uri="{FF2B5EF4-FFF2-40B4-BE49-F238E27FC236}">
                <a16:creationId xmlns:a16="http://schemas.microsoft.com/office/drawing/2014/main" id="{E93C43C2-0BFE-9339-0EF2-A2F2250FCC4C}"/>
              </a:ext>
            </a:extLst>
          </p:cNvPr>
          <p:cNvSpPr>
            <a:spLocks noGrp="1"/>
          </p:cNvSpPr>
          <p:nvPr>
            <p:ph idx="1"/>
          </p:nvPr>
        </p:nvSpPr>
        <p:spPr>
          <a:xfrm>
            <a:off x="395536" y="980728"/>
            <a:ext cx="8229600" cy="5256584"/>
          </a:xfrm>
        </p:spPr>
        <p:txBody>
          <a:bodyPr/>
          <a:lstStyle/>
          <a:p>
            <a:pPr marL="0" indent="0">
              <a:buNone/>
            </a:pPr>
            <a:r>
              <a:rPr lang="en-US" sz="1800" dirty="0"/>
              <a:t>The development of the </a:t>
            </a:r>
            <a:r>
              <a:rPr lang="en-US" sz="1800" dirty="0" err="1"/>
              <a:t>ForgetAI</a:t>
            </a:r>
            <a:r>
              <a:rPr lang="en-US" sz="1800" dirty="0"/>
              <a:t> system follows the Software Development Life Cycle:</a:t>
            </a:r>
          </a:p>
          <a:p>
            <a:r>
              <a:rPr lang="en-US" sz="1800" b="1" dirty="0"/>
              <a:t>Requirement Analysis</a:t>
            </a:r>
            <a:br>
              <a:rPr lang="en-US" sz="1800" dirty="0"/>
            </a:br>
            <a:r>
              <a:rPr lang="en-US" sz="1800" dirty="0"/>
              <a:t>We identified the main problem: AI systems store too much data, leading to inefficiency. </a:t>
            </a:r>
          </a:p>
          <a:p>
            <a:r>
              <a:rPr lang="en-US" sz="1800" b="1" dirty="0"/>
              <a:t>System Design</a:t>
            </a:r>
            <a:br>
              <a:rPr lang="en-US" sz="1800" dirty="0"/>
            </a:br>
            <a:r>
              <a:rPr lang="en-US" sz="1800" dirty="0"/>
              <a:t>We designed a system architecture that includes input, storage, processing, decision, and output layers. </a:t>
            </a:r>
          </a:p>
          <a:p>
            <a:r>
              <a:rPr lang="en-US" sz="1800" b="1" dirty="0"/>
              <a:t>Development</a:t>
            </a:r>
            <a:r>
              <a:rPr lang="en-US" sz="1800" dirty="0"/>
              <a:t> </a:t>
            </a:r>
          </a:p>
          <a:p>
            <a:pPr lvl="1"/>
            <a:r>
              <a:rPr lang="en-US" sz="1800" dirty="0"/>
              <a:t>Backend: Node.js, Express, MongoDB </a:t>
            </a:r>
          </a:p>
          <a:p>
            <a:pPr lvl="1"/>
            <a:r>
              <a:rPr lang="en-US" sz="1800" dirty="0"/>
              <a:t>Frontend: React dashboard </a:t>
            </a:r>
          </a:p>
          <a:p>
            <a:r>
              <a:rPr lang="en-US" sz="1800" b="1" dirty="0"/>
              <a:t>Testing</a:t>
            </a:r>
            <a:br>
              <a:rPr lang="en-US" sz="1800" dirty="0"/>
            </a:br>
            <a:r>
              <a:rPr lang="en-US" sz="1800" dirty="0"/>
              <a:t>We tested the system using sample data to evaluate memory reduction and performance. </a:t>
            </a:r>
          </a:p>
          <a:p>
            <a:r>
              <a:rPr lang="en-US" sz="1800" b="1" dirty="0"/>
              <a:t>Deployment</a:t>
            </a:r>
            <a:br>
              <a:rPr lang="en-US" sz="1800" dirty="0"/>
            </a:br>
            <a:r>
              <a:rPr lang="en-US" sz="1800" dirty="0"/>
              <a:t>The system was deployed with a user interface for real-time visualization. </a:t>
            </a:r>
          </a:p>
          <a:p>
            <a:r>
              <a:rPr lang="en-US" sz="1800" b="1" dirty="0"/>
              <a:t>Maintenance</a:t>
            </a:r>
            <a:br>
              <a:rPr lang="en-US" sz="1800" dirty="0"/>
            </a:br>
            <a:r>
              <a:rPr lang="en-US" sz="1800" dirty="0"/>
              <a:t>Future improvements include better algorithms and adaptive learning.</a:t>
            </a:r>
          </a:p>
        </p:txBody>
      </p:sp>
      <p:sp>
        <p:nvSpPr>
          <p:cNvPr id="4" name="Slide Number Placeholder 3">
            <a:extLst>
              <a:ext uri="{FF2B5EF4-FFF2-40B4-BE49-F238E27FC236}">
                <a16:creationId xmlns:a16="http://schemas.microsoft.com/office/drawing/2014/main" id="{5FA21A3F-8687-30EE-A848-1F2F101BF687}"/>
              </a:ext>
            </a:extLst>
          </p:cNvPr>
          <p:cNvSpPr>
            <a:spLocks noGrp="1"/>
          </p:cNvSpPr>
          <p:nvPr>
            <p:ph type="sldNum" sz="quarter" idx="12"/>
          </p:nvPr>
        </p:nvSpPr>
        <p:spPr/>
        <p:txBody>
          <a:bodyPr/>
          <a:lstStyle/>
          <a:p>
            <a:fld id="{0F8887D6-2A35-42AC-99C1-5E14D32EE4CF}" type="slidenum">
              <a:rPr lang="en-US" smtClean="0"/>
              <a:pPr/>
              <a:t>8</a:t>
            </a:fld>
            <a:endParaRPr lang="en-US" dirty="0"/>
          </a:p>
        </p:txBody>
      </p:sp>
    </p:spTree>
    <p:extLst>
      <p:ext uri="{BB962C8B-B14F-4D97-AF65-F5344CB8AC3E}">
        <p14:creationId xmlns:p14="http://schemas.microsoft.com/office/powerpoint/2010/main" val="1475326864"/>
      </p:ext>
    </p:extLst>
  </p:cSld>
  <p:clrMapOvr>
    <a:masterClrMapping/>
  </p:clrMapOvr>
  <p:transition advTm="4000">
    <p:cut/>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A43BBB2-3F06-50EE-B910-BB06B709B8D4}"/>
              </a:ext>
            </a:extLst>
          </p:cNvPr>
          <p:cNvSpPr txBox="1"/>
          <p:nvPr/>
        </p:nvSpPr>
        <p:spPr>
          <a:xfrm>
            <a:off x="323528" y="188640"/>
            <a:ext cx="4968552" cy="861774"/>
          </a:xfrm>
          <a:prstGeom prst="rect">
            <a:avLst/>
          </a:prstGeom>
          <a:noFill/>
        </p:spPr>
        <p:txBody>
          <a:bodyPr wrap="square" rtlCol="0">
            <a:spAutoFit/>
          </a:bodyPr>
          <a:lstStyle/>
          <a:p>
            <a:r>
              <a:rPr lang="en-US" sz="3200" b="1" dirty="0">
                <a:latin typeface="Times New Roman" pitchFamily="18" charset="0"/>
                <a:cs typeface="Times New Roman" pitchFamily="18" charset="0"/>
              </a:rPr>
              <a:t>Data Flow Diagram</a:t>
            </a:r>
          </a:p>
          <a:p>
            <a:endParaRPr lang="en-IN" dirty="0"/>
          </a:p>
        </p:txBody>
      </p:sp>
      <p:sp>
        <p:nvSpPr>
          <p:cNvPr id="7" name="Slide Number Placeholder 6"/>
          <p:cNvSpPr>
            <a:spLocks noGrp="1"/>
          </p:cNvSpPr>
          <p:nvPr>
            <p:ph type="sldNum" sz="quarter" idx="12"/>
          </p:nvPr>
        </p:nvSpPr>
        <p:spPr/>
        <p:txBody>
          <a:bodyPr/>
          <a:lstStyle/>
          <a:p>
            <a:fld id="{0F8887D6-2A35-42AC-99C1-5E14D32EE4CF}" type="slidenum">
              <a:rPr lang="en-US" smtClean="0"/>
              <a:pPr/>
              <a:t>9</a:t>
            </a:fld>
            <a:endParaRPr lang="en-US" dirty="0"/>
          </a:p>
        </p:txBody>
      </p:sp>
      <p:pic>
        <p:nvPicPr>
          <p:cNvPr id="8" name="Picture 7">
            <a:extLst>
              <a:ext uri="{FF2B5EF4-FFF2-40B4-BE49-F238E27FC236}">
                <a16:creationId xmlns:a16="http://schemas.microsoft.com/office/drawing/2014/main" id="{E9F15B7B-D2F5-8EEA-3254-3DBD73F92D2C}"/>
              </a:ext>
            </a:extLst>
          </p:cNvPr>
          <p:cNvPicPr>
            <a:picLocks noChangeAspect="1"/>
          </p:cNvPicPr>
          <p:nvPr/>
        </p:nvPicPr>
        <p:blipFill>
          <a:blip r:embed="rId2"/>
          <a:stretch>
            <a:fillRect/>
          </a:stretch>
        </p:blipFill>
        <p:spPr>
          <a:xfrm>
            <a:off x="179512" y="954579"/>
            <a:ext cx="2276475" cy="5514975"/>
          </a:xfrm>
          <a:prstGeom prst="rect">
            <a:avLst/>
          </a:prstGeom>
        </p:spPr>
      </p:pic>
      <p:sp>
        <p:nvSpPr>
          <p:cNvPr id="9" name="TextBox 8">
            <a:extLst>
              <a:ext uri="{FF2B5EF4-FFF2-40B4-BE49-F238E27FC236}">
                <a16:creationId xmlns:a16="http://schemas.microsoft.com/office/drawing/2014/main" id="{E8F0ED35-2546-A307-CF6A-3B13BC41832E}"/>
              </a:ext>
            </a:extLst>
          </p:cNvPr>
          <p:cNvSpPr txBox="1"/>
          <p:nvPr/>
        </p:nvSpPr>
        <p:spPr>
          <a:xfrm>
            <a:off x="2408851" y="1052736"/>
            <a:ext cx="6264696" cy="5355312"/>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Sign In/Sign Up</a:t>
            </a:r>
            <a:r>
              <a:rPr lang="en-US" dirty="0">
                <a:latin typeface="Times New Roman" panose="02020603050405020304" pitchFamily="18" charset="0"/>
                <a:cs typeface="Times New Roman" panose="02020603050405020304" pitchFamily="18" charset="0"/>
              </a:rPr>
              <a:t>: User inputs credentials (username/email and password) in the sign-in form .Server verifies credentials against the database</a:t>
            </a:r>
            <a:r>
              <a:rPr lang="en-IN" dirty="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Authentication</a:t>
            </a:r>
            <a:r>
              <a:rPr lang="en-IN"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Authenticated user makes a request to access protected routes or perform actions (e.g., add new property, view user profile).</a:t>
            </a: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User Profile</a:t>
            </a:r>
            <a:r>
              <a:rPr lang="en-US" dirty="0">
                <a:latin typeface="Times New Roman" panose="02020603050405020304" pitchFamily="18" charset="0"/>
                <a:cs typeface="Times New Roman" panose="02020603050405020304" pitchFamily="18" charset="0"/>
              </a:rPr>
              <a:t>: Authenticated user navigates to the profile page. React component sends a request to the server to fetch user data using the authentication token.</a:t>
            </a: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Add New Property</a:t>
            </a:r>
            <a:r>
              <a:rPr lang="en-US" dirty="0">
                <a:latin typeface="Times New Roman" panose="02020603050405020304" pitchFamily="18" charset="0"/>
                <a:cs typeface="Times New Roman" panose="02020603050405020304" pitchFamily="18" charset="0"/>
              </a:rPr>
              <a:t>: Authenticated user fills out the property details form (e.g., address, price, description, images). Server validates the token and inserts the new property information into the database.</a:t>
            </a: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Search Property</a:t>
            </a:r>
            <a:r>
              <a:rPr lang="en-US" dirty="0">
                <a:latin typeface="Times New Roman" panose="02020603050405020304" pitchFamily="18" charset="0"/>
                <a:cs typeface="Times New Roman" panose="02020603050405020304" pitchFamily="18" charset="0"/>
              </a:rPr>
              <a:t>: User interacts with the search bar or filters to specify search criteria (e.g., location, price range, property type). Server sends the list of matching properties back to the client.</a:t>
            </a: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Manage and Browse Property</a:t>
            </a:r>
            <a:r>
              <a:rPr lang="en-US" dirty="0">
                <a:latin typeface="Times New Roman" panose="02020603050405020304" pitchFamily="18" charset="0"/>
                <a:cs typeface="Times New Roman" panose="02020603050405020304" pitchFamily="18" charset="0"/>
              </a:rPr>
              <a:t>: Authenticated user navigates to the property management or browsing section.</a:t>
            </a:r>
            <a:endParaRPr lang="en-IN" dirty="0">
              <a:latin typeface="Times New Roman" panose="02020603050405020304" pitchFamily="18" charset="0"/>
              <a:cs typeface="Times New Roman" panose="02020603050405020304" pitchFamily="18" charset="0"/>
            </a:endParaRPr>
          </a:p>
        </p:txBody>
      </p:sp>
    </p:spTree>
  </p:cSld>
  <p:clrMapOvr>
    <a:masterClrMapping/>
  </p:clrMapOvr>
  <p:transition advTm="4000">
    <p:cut/>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58640-A37F-C0E2-0349-9322ADA2C695}"/>
              </a:ext>
            </a:extLst>
          </p:cNvPr>
          <p:cNvSpPr>
            <a:spLocks noGrp="1"/>
          </p:cNvSpPr>
          <p:nvPr>
            <p:ph type="ctrTitle"/>
          </p:nvPr>
        </p:nvSpPr>
        <p:spPr>
          <a:xfrm>
            <a:off x="533400" y="1"/>
            <a:ext cx="5406752" cy="914400"/>
          </a:xfrm>
        </p:spPr>
        <p:txBody>
          <a:bodyPr/>
          <a:lstStyle/>
          <a:p>
            <a:pPr algn="l"/>
            <a:r>
              <a:rPr lang="en-IN" dirty="0"/>
              <a:t>Challenges </a:t>
            </a:r>
          </a:p>
        </p:txBody>
      </p:sp>
      <p:sp>
        <p:nvSpPr>
          <p:cNvPr id="3" name="Subtitle 2">
            <a:extLst>
              <a:ext uri="{FF2B5EF4-FFF2-40B4-BE49-F238E27FC236}">
                <a16:creationId xmlns:a16="http://schemas.microsoft.com/office/drawing/2014/main" id="{9F481B4C-ACE5-FA80-0A5C-2E586F3F790B}"/>
              </a:ext>
            </a:extLst>
          </p:cNvPr>
          <p:cNvSpPr>
            <a:spLocks noGrp="1"/>
          </p:cNvSpPr>
          <p:nvPr>
            <p:ph type="subTitle" idx="1"/>
          </p:nvPr>
        </p:nvSpPr>
        <p:spPr/>
        <p:txBody>
          <a:bodyPr/>
          <a:lstStyle/>
          <a:p>
            <a:pPr algn="l"/>
            <a:r>
              <a:rPr lang="en-US" sz="1800" dirty="0">
                <a:solidFill>
                  <a:schemeClr val="tx1"/>
                </a:solidFill>
                <a:latin typeface="Times New Roman" panose="02020603050405020304" pitchFamily="18" charset="0"/>
                <a:cs typeface="Times New Roman" panose="02020603050405020304" pitchFamily="18" charset="0"/>
              </a:rPr>
              <a:t>First, it is difficult to determine which data should be removed. If important data is deleted, it may reduce system accuracy.</a:t>
            </a:r>
          </a:p>
          <a:p>
            <a:pPr algn="l"/>
            <a:r>
              <a:rPr lang="en-US" sz="1800" dirty="0">
                <a:solidFill>
                  <a:schemeClr val="tx1"/>
                </a:solidFill>
                <a:latin typeface="Times New Roman" panose="02020603050405020304" pitchFamily="18" charset="0"/>
                <a:cs typeface="Times New Roman" panose="02020603050405020304" pitchFamily="18" charset="0"/>
              </a:rPr>
              <a:t>Second, removing data can affect model performance. Some machine learning models depend heavily on training data, so deleting data may impact stability.</a:t>
            </a:r>
          </a:p>
          <a:p>
            <a:pPr algn="l"/>
            <a:r>
              <a:rPr lang="en-US" sz="1800" dirty="0">
                <a:solidFill>
                  <a:schemeClr val="tx1"/>
                </a:solidFill>
                <a:latin typeface="Times New Roman" panose="02020603050405020304" pitchFamily="18" charset="0"/>
                <a:cs typeface="Times New Roman" panose="02020603050405020304" pitchFamily="18" charset="0"/>
              </a:rPr>
              <a:t>Third, designing efficient algorithms for safe and reliable forgetting is still a research challenge.</a:t>
            </a:r>
          </a:p>
          <a:p>
            <a:pPr algn="l"/>
            <a:r>
              <a:rPr lang="en-US" sz="1800" dirty="0">
                <a:solidFill>
                  <a:schemeClr val="tx1"/>
                </a:solidFill>
                <a:latin typeface="Times New Roman" panose="02020603050405020304" pitchFamily="18" charset="0"/>
                <a:cs typeface="Times New Roman" panose="02020603050405020304" pitchFamily="18" charset="0"/>
              </a:rPr>
              <a:t>In simple terms:</a:t>
            </a:r>
          </a:p>
          <a:p>
            <a:pPr marL="285750" indent="-285750" algn="l">
              <a:buFont typeface="Arial" panose="020B0604020202020204" pitchFamily="34" charset="0"/>
              <a:buChar char="•"/>
            </a:pPr>
            <a:r>
              <a:rPr lang="en-US" sz="1800" dirty="0">
                <a:solidFill>
                  <a:schemeClr val="tx1"/>
                </a:solidFill>
                <a:latin typeface="Times New Roman" panose="02020603050405020304" pitchFamily="18" charset="0"/>
                <a:cs typeface="Times New Roman" panose="02020603050405020304" pitchFamily="18" charset="0"/>
              </a:rPr>
              <a:t>Choosing the right threshold is difficult </a:t>
            </a:r>
          </a:p>
          <a:p>
            <a:pPr marL="285750" indent="-285750" algn="l">
              <a:buFont typeface="Arial" panose="020B0604020202020204" pitchFamily="34" charset="0"/>
              <a:buChar char="•"/>
            </a:pPr>
            <a:r>
              <a:rPr lang="en-US" sz="1800" dirty="0">
                <a:solidFill>
                  <a:schemeClr val="tx1"/>
                </a:solidFill>
                <a:latin typeface="Times New Roman" panose="02020603050405020304" pitchFamily="18" charset="0"/>
                <a:cs typeface="Times New Roman" panose="02020603050405020304" pitchFamily="18" charset="0"/>
              </a:rPr>
              <a:t>Avoiding loss of important data is critical </a:t>
            </a:r>
          </a:p>
          <a:p>
            <a:pPr marL="285750" indent="-285750" algn="l">
              <a:buFont typeface="Arial" panose="020B0604020202020204" pitchFamily="34" charset="0"/>
              <a:buChar char="•"/>
            </a:pPr>
            <a:r>
              <a:rPr lang="en-US" sz="1800" dirty="0">
                <a:solidFill>
                  <a:schemeClr val="tx1"/>
                </a:solidFill>
                <a:latin typeface="Times New Roman" panose="02020603050405020304" pitchFamily="18" charset="0"/>
                <a:cs typeface="Times New Roman" panose="02020603050405020304" pitchFamily="18" charset="0"/>
              </a:rPr>
              <a:t>Maintaining system stability is challenging</a:t>
            </a:r>
          </a:p>
          <a:p>
            <a:endParaRPr lang="en-IN" dirty="0"/>
          </a:p>
        </p:txBody>
      </p:sp>
      <p:sp>
        <p:nvSpPr>
          <p:cNvPr id="4" name="Slide Number Placeholder 3">
            <a:extLst>
              <a:ext uri="{FF2B5EF4-FFF2-40B4-BE49-F238E27FC236}">
                <a16:creationId xmlns:a16="http://schemas.microsoft.com/office/drawing/2014/main" id="{5C14D9D3-C2D1-5803-BA88-C67241997DC9}"/>
              </a:ext>
            </a:extLst>
          </p:cNvPr>
          <p:cNvSpPr>
            <a:spLocks noGrp="1"/>
          </p:cNvSpPr>
          <p:nvPr>
            <p:ph type="sldNum" sz="quarter" idx="12"/>
          </p:nvPr>
        </p:nvSpPr>
        <p:spPr/>
        <p:txBody>
          <a:bodyPr/>
          <a:lstStyle/>
          <a:p>
            <a:fld id="{0F8887D6-2A35-42AC-99C1-5E14D32EE4CF}" type="slidenum">
              <a:rPr lang="en-US" smtClean="0"/>
              <a:pPr/>
              <a:t>10</a:t>
            </a:fld>
            <a:endParaRPr lang="en-US" dirty="0"/>
          </a:p>
        </p:txBody>
      </p:sp>
      <p:sp>
        <p:nvSpPr>
          <p:cNvPr id="6" name="TextBox 5">
            <a:extLst>
              <a:ext uri="{FF2B5EF4-FFF2-40B4-BE49-F238E27FC236}">
                <a16:creationId xmlns:a16="http://schemas.microsoft.com/office/drawing/2014/main" id="{BD4BE49E-D908-FF21-AFF1-05EC4F43FFC6}"/>
              </a:ext>
            </a:extLst>
          </p:cNvPr>
          <p:cNvSpPr txBox="1"/>
          <p:nvPr/>
        </p:nvSpPr>
        <p:spPr>
          <a:xfrm>
            <a:off x="2274426" y="3270377"/>
            <a:ext cx="4595148" cy="369332"/>
          </a:xfrm>
          <a:prstGeom prst="rect">
            <a:avLst/>
          </a:prstGeom>
          <a:noFill/>
        </p:spPr>
        <p:txBody>
          <a:bodyPr wrap="square">
            <a:spAutoFit/>
          </a:bodyPr>
          <a:lstStyle/>
          <a:p>
            <a:r>
              <a:rPr lang="en-IN" dirty="0"/>
              <a:t> </a:t>
            </a:r>
          </a:p>
        </p:txBody>
      </p:sp>
    </p:spTree>
    <p:extLst>
      <p:ext uri="{BB962C8B-B14F-4D97-AF65-F5344CB8AC3E}">
        <p14:creationId xmlns:p14="http://schemas.microsoft.com/office/powerpoint/2010/main" val="51802013"/>
      </p:ext>
    </p:extLst>
  </p:cSld>
  <p:clrMapOvr>
    <a:masterClrMapping/>
  </p:clrMapOvr>
  <p:transition advTm="4000">
    <p:cut/>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C1B17-6FE4-79AE-E14D-A11C8F100227}"/>
              </a:ext>
            </a:extLst>
          </p:cNvPr>
          <p:cNvSpPr>
            <a:spLocks noGrp="1"/>
          </p:cNvSpPr>
          <p:nvPr>
            <p:ph type="ctrTitle"/>
          </p:nvPr>
        </p:nvSpPr>
        <p:spPr/>
        <p:txBody>
          <a:bodyPr/>
          <a:lstStyle/>
          <a:p>
            <a:pPr algn="l"/>
            <a:r>
              <a:rPr lang="en-IN" dirty="0"/>
              <a:t>  Project Preview</a:t>
            </a:r>
          </a:p>
        </p:txBody>
      </p:sp>
      <p:sp>
        <p:nvSpPr>
          <p:cNvPr id="3" name="Subtitle 2">
            <a:extLst>
              <a:ext uri="{FF2B5EF4-FFF2-40B4-BE49-F238E27FC236}">
                <a16:creationId xmlns:a16="http://schemas.microsoft.com/office/drawing/2014/main" id="{2FA84E6A-8979-DEFC-1EE8-C42E00FB9E4C}"/>
              </a:ext>
            </a:extLst>
          </p:cNvPr>
          <p:cNvSpPr>
            <a:spLocks noGrp="1"/>
          </p:cNvSpPr>
          <p:nvPr>
            <p:ph type="subTitle" idx="1"/>
          </p:nvPr>
        </p:nvSpPr>
        <p:spPr/>
        <p:txBody>
          <a:bodyPr/>
          <a:lstStyle/>
          <a:p>
            <a:endParaRPr lang="en-IN" dirty="0"/>
          </a:p>
        </p:txBody>
      </p:sp>
      <p:sp>
        <p:nvSpPr>
          <p:cNvPr id="4" name="Slide Number Placeholder 3">
            <a:extLst>
              <a:ext uri="{FF2B5EF4-FFF2-40B4-BE49-F238E27FC236}">
                <a16:creationId xmlns:a16="http://schemas.microsoft.com/office/drawing/2014/main" id="{06BDEB54-4633-C7CE-A3F0-8C2223320A49}"/>
              </a:ext>
            </a:extLst>
          </p:cNvPr>
          <p:cNvSpPr>
            <a:spLocks noGrp="1"/>
          </p:cNvSpPr>
          <p:nvPr>
            <p:ph type="sldNum" sz="quarter" idx="12"/>
          </p:nvPr>
        </p:nvSpPr>
        <p:spPr/>
        <p:txBody>
          <a:bodyPr/>
          <a:lstStyle/>
          <a:p>
            <a:fld id="{0F8887D6-2A35-42AC-99C1-5E14D32EE4CF}" type="slidenum">
              <a:rPr lang="en-US" smtClean="0"/>
              <a:pPr/>
              <a:t>11</a:t>
            </a:fld>
            <a:endParaRPr lang="en-US" dirty="0"/>
          </a:p>
        </p:txBody>
      </p:sp>
      <p:pic>
        <p:nvPicPr>
          <p:cNvPr id="6" name="Picture 5">
            <a:extLst>
              <a:ext uri="{FF2B5EF4-FFF2-40B4-BE49-F238E27FC236}">
                <a16:creationId xmlns:a16="http://schemas.microsoft.com/office/drawing/2014/main" id="{82CCAEA5-6021-B75F-2A79-05D0D8FEBADE}"/>
              </a:ext>
            </a:extLst>
          </p:cNvPr>
          <p:cNvPicPr>
            <a:picLocks noChangeAspect="1"/>
          </p:cNvPicPr>
          <p:nvPr/>
        </p:nvPicPr>
        <p:blipFill>
          <a:blip r:embed="rId2"/>
          <a:stretch>
            <a:fillRect/>
          </a:stretch>
        </p:blipFill>
        <p:spPr>
          <a:xfrm>
            <a:off x="457200" y="1253342"/>
            <a:ext cx="4114800" cy="2293914"/>
          </a:xfrm>
          <a:prstGeom prst="rect">
            <a:avLst/>
          </a:prstGeom>
        </p:spPr>
      </p:pic>
      <p:pic>
        <p:nvPicPr>
          <p:cNvPr id="8" name="Picture 7">
            <a:extLst>
              <a:ext uri="{FF2B5EF4-FFF2-40B4-BE49-F238E27FC236}">
                <a16:creationId xmlns:a16="http://schemas.microsoft.com/office/drawing/2014/main" id="{48864738-2B57-1D7D-5F5D-79F1B83CE121}"/>
              </a:ext>
            </a:extLst>
          </p:cNvPr>
          <p:cNvPicPr>
            <a:picLocks noChangeAspect="1"/>
          </p:cNvPicPr>
          <p:nvPr/>
        </p:nvPicPr>
        <p:blipFill>
          <a:blip r:embed="rId3"/>
          <a:stretch>
            <a:fillRect/>
          </a:stretch>
        </p:blipFill>
        <p:spPr>
          <a:xfrm>
            <a:off x="4572000" y="3547256"/>
            <a:ext cx="4114800" cy="2548744"/>
          </a:xfrm>
          <a:prstGeom prst="rect">
            <a:avLst/>
          </a:prstGeom>
        </p:spPr>
      </p:pic>
      <p:pic>
        <p:nvPicPr>
          <p:cNvPr id="10" name="Picture 9">
            <a:extLst>
              <a:ext uri="{FF2B5EF4-FFF2-40B4-BE49-F238E27FC236}">
                <a16:creationId xmlns:a16="http://schemas.microsoft.com/office/drawing/2014/main" id="{10E5532C-5E34-367C-B562-5B3775F1285B}"/>
              </a:ext>
            </a:extLst>
          </p:cNvPr>
          <p:cNvPicPr>
            <a:picLocks noChangeAspect="1"/>
          </p:cNvPicPr>
          <p:nvPr/>
        </p:nvPicPr>
        <p:blipFill>
          <a:blip r:embed="rId4"/>
          <a:stretch>
            <a:fillRect/>
          </a:stretch>
        </p:blipFill>
        <p:spPr>
          <a:xfrm>
            <a:off x="4572001" y="1253340"/>
            <a:ext cx="4114800" cy="2293916"/>
          </a:xfrm>
          <a:prstGeom prst="rect">
            <a:avLst/>
          </a:prstGeom>
        </p:spPr>
      </p:pic>
      <p:pic>
        <p:nvPicPr>
          <p:cNvPr id="12" name="Picture 11">
            <a:extLst>
              <a:ext uri="{FF2B5EF4-FFF2-40B4-BE49-F238E27FC236}">
                <a16:creationId xmlns:a16="http://schemas.microsoft.com/office/drawing/2014/main" id="{5145712B-C8FF-5D76-1D7E-205EF1168C46}"/>
              </a:ext>
            </a:extLst>
          </p:cNvPr>
          <p:cNvPicPr>
            <a:picLocks noChangeAspect="1"/>
          </p:cNvPicPr>
          <p:nvPr/>
        </p:nvPicPr>
        <p:blipFill>
          <a:blip r:embed="rId5"/>
          <a:stretch>
            <a:fillRect/>
          </a:stretch>
        </p:blipFill>
        <p:spPr>
          <a:xfrm>
            <a:off x="457199" y="3547256"/>
            <a:ext cx="4114800" cy="2548744"/>
          </a:xfrm>
          <a:prstGeom prst="rect">
            <a:avLst/>
          </a:prstGeom>
        </p:spPr>
      </p:pic>
    </p:spTree>
    <p:extLst>
      <p:ext uri="{BB962C8B-B14F-4D97-AF65-F5344CB8AC3E}">
        <p14:creationId xmlns:p14="http://schemas.microsoft.com/office/powerpoint/2010/main" val="2617954301"/>
      </p:ext>
    </p:extLst>
  </p:cSld>
  <p:clrMapOvr>
    <a:masterClrMapping/>
  </p:clrMapOvr>
  <p:transition advTm="4000">
    <p:cut/>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7544" y="260648"/>
            <a:ext cx="5400600" cy="584775"/>
          </a:xfrm>
          <a:prstGeom prst="rect">
            <a:avLst/>
          </a:prstGeom>
          <a:noFill/>
        </p:spPr>
        <p:txBody>
          <a:bodyPr wrap="square" rtlCol="0">
            <a:spAutoFit/>
          </a:bodyPr>
          <a:lstStyle/>
          <a:p>
            <a:r>
              <a:rPr lang="en-US" sz="3200" b="1" dirty="0">
                <a:latin typeface="Times New Roman" pitchFamily="18" charset="0"/>
                <a:cs typeface="Times New Roman" pitchFamily="18" charset="0"/>
              </a:rPr>
              <a:t>Future</a:t>
            </a:r>
            <a:r>
              <a:rPr lang="en-US" sz="3200" dirty="0">
                <a:latin typeface="Times New Roman" pitchFamily="18" charset="0"/>
                <a:cs typeface="Times New Roman" pitchFamily="18" charset="0"/>
              </a:rPr>
              <a:t> </a:t>
            </a:r>
            <a:r>
              <a:rPr lang="en-US" sz="3200" b="1" dirty="0">
                <a:latin typeface="Times New Roman" pitchFamily="18" charset="0"/>
                <a:cs typeface="Times New Roman" pitchFamily="18" charset="0"/>
              </a:rPr>
              <a:t>Scope</a:t>
            </a:r>
          </a:p>
        </p:txBody>
      </p:sp>
      <p:sp>
        <p:nvSpPr>
          <p:cNvPr id="3" name="Rectangle 2"/>
          <p:cNvSpPr/>
          <p:nvPr/>
        </p:nvSpPr>
        <p:spPr>
          <a:xfrm>
            <a:off x="179512" y="1052736"/>
            <a:ext cx="8136904" cy="2308324"/>
          </a:xfrm>
          <a:prstGeom prst="rect">
            <a:avLst/>
          </a:prstGeom>
        </p:spPr>
        <p:txBody>
          <a:bodyPr wrap="square">
            <a:spAutoFit/>
          </a:bodyPr>
          <a:lstStyle/>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AI systems can be made more intelligent by automatically deciding what to keep and what to forget without manual control.</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Integration with reinforcement learning can allow systems to improve forgetting decisions over time.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Better machine unlearning techniques will ensure that removing data does not affect performance.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Digital forgetting will also play a key role in privacy protection as data regulations become stricter.</a:t>
            </a:r>
          </a:p>
        </p:txBody>
      </p:sp>
      <p:sp>
        <p:nvSpPr>
          <p:cNvPr id="5" name="Slide Number Placeholder 4"/>
          <p:cNvSpPr>
            <a:spLocks noGrp="1"/>
          </p:cNvSpPr>
          <p:nvPr>
            <p:ph type="sldNum" sz="quarter" idx="12"/>
          </p:nvPr>
        </p:nvSpPr>
        <p:spPr/>
        <p:txBody>
          <a:bodyPr/>
          <a:lstStyle/>
          <a:p>
            <a:fld id="{0F8887D6-2A35-42AC-99C1-5E14D32EE4CF}" type="slidenum">
              <a:rPr lang="en-US" smtClean="0"/>
              <a:pPr/>
              <a:t>12</a:t>
            </a:fld>
            <a:endParaRPr lang="en-US" dirty="0"/>
          </a:p>
        </p:txBody>
      </p:sp>
    </p:spTree>
  </p:cSld>
  <p:clrMapOvr>
    <a:masterClrMapping/>
  </p:clrMapOvr>
  <p:transition advTm="4000">
    <p:cut/>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7544" y="260648"/>
            <a:ext cx="5400600" cy="584775"/>
          </a:xfrm>
          <a:prstGeom prst="rect">
            <a:avLst/>
          </a:prstGeom>
          <a:noFill/>
        </p:spPr>
        <p:txBody>
          <a:bodyPr wrap="square" rtlCol="0">
            <a:spAutoFit/>
          </a:bodyPr>
          <a:lstStyle/>
          <a:p>
            <a:r>
              <a:rPr lang="en-US" sz="3200" b="1" dirty="0">
                <a:latin typeface="Times New Roman" pitchFamily="18" charset="0"/>
                <a:cs typeface="Times New Roman" pitchFamily="18" charset="0"/>
              </a:rPr>
              <a:t>References/Links used</a:t>
            </a:r>
          </a:p>
        </p:txBody>
      </p:sp>
      <p:sp>
        <p:nvSpPr>
          <p:cNvPr id="5" name="TextBox 4">
            <a:extLst>
              <a:ext uri="{FF2B5EF4-FFF2-40B4-BE49-F238E27FC236}">
                <a16:creationId xmlns:a16="http://schemas.microsoft.com/office/drawing/2014/main" id="{81C2D066-9395-E829-74E2-792337A94274}"/>
              </a:ext>
            </a:extLst>
          </p:cNvPr>
          <p:cNvSpPr txBox="1"/>
          <p:nvPr/>
        </p:nvSpPr>
        <p:spPr>
          <a:xfrm>
            <a:off x="467544" y="1196752"/>
            <a:ext cx="8280920" cy="3570208"/>
          </a:xfrm>
          <a:prstGeom prst="rect">
            <a:avLst/>
          </a:prstGeom>
          <a:noFill/>
        </p:spPr>
        <p:txBody>
          <a:bodyPr wrap="square">
            <a:spAutoFit/>
          </a:bodyPr>
          <a:lstStyle/>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hlinkClick r:id="rId2">
                  <a:extLst>
                    <a:ext uri="{A12FA001-AC4F-418D-AE19-62706E023703}">
                      <ahyp:hlinkClr xmlns:ahyp="http://schemas.microsoft.com/office/drawing/2018/hyperlinkcolor" val="tx"/>
                    </a:ext>
                  </a:extLst>
                </a:hlinkClick>
              </a:rPr>
              <a:t>https://www.youtube.com/watch?v=HFj5FMb0jwY&amp;t=958s&amp;ab_channel=LamaDev</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https://www.youtube.com/watch?v=eJ3YysWaP_A&amp;t=0s&amp;ab_channel=LamaDev</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www.google.com</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www.chatgpt.com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This research is supported by multiple studies in the field of machine unlearning and AI memory management, including:</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Cao &amp; Yang (2015) – Machine Unlearning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err="1">
                <a:ln>
                  <a:noFill/>
                </a:ln>
                <a:solidFill>
                  <a:prstClr val="black"/>
                </a:solidFill>
                <a:effectLst/>
                <a:uLnTx/>
                <a:uFillTx/>
                <a:latin typeface="Times New Roman" panose="02020603050405020304" pitchFamily="18" charset="0"/>
                <a:ea typeface="+mn-ea"/>
                <a:cs typeface="Times New Roman" panose="02020603050405020304" pitchFamily="18" charset="0"/>
              </a:rPr>
              <a:t>Bourtoule</a:t>
            </a:r>
            <a:r>
              <a:rPr kumimoji="0" lang="en-US"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 et al. (2021)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Ma et al. (2023)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Wang et al. (2024)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err="1">
                <a:ln>
                  <a:noFill/>
                </a:ln>
                <a:solidFill>
                  <a:prstClr val="black"/>
                </a:solidFill>
                <a:effectLst/>
                <a:uLnTx/>
                <a:uFillTx/>
                <a:latin typeface="Times New Roman" panose="02020603050405020304" pitchFamily="18" charset="0"/>
                <a:ea typeface="+mn-ea"/>
                <a:cs typeface="Times New Roman" panose="02020603050405020304" pitchFamily="18" charset="0"/>
              </a:rPr>
              <a:t>Papernot</a:t>
            </a:r>
            <a:r>
              <a:rPr kumimoji="0" lang="en-US"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 et al. – Privacy-preserving AI</a:t>
            </a:r>
            <a:endParaRPr kumimoji="0" lang="en-IN" sz="1800" b="0" i="0" u="none" strike="noStrike" kern="1200" cap="none" spc="0" normalizeH="0" baseline="0" noProof="0" dirty="0">
              <a:ln>
                <a:noFill/>
              </a:ln>
              <a:solidFill>
                <a:srgbClr val="0000FF"/>
              </a:solidFill>
              <a:effectLst/>
              <a:uLnTx/>
              <a:uFillTx/>
              <a:latin typeface="Times New Roman" panose="02020603050405020304" pitchFamily="18" charset="0"/>
              <a:ea typeface="+mn-ea"/>
              <a:cs typeface="Times New Roman" panose="02020603050405020304" pitchFamily="18" charset="0"/>
              <a:hlinkClick r:id="rId2">
                <a:extLst>
                  <a:ext uri="{A12FA001-AC4F-418D-AE19-62706E023703}">
                    <ahyp:hlinkClr xmlns:ahyp="http://schemas.microsoft.com/office/drawing/2018/hyperlinkcolor" val="tx"/>
                  </a:ext>
                </a:extLst>
              </a:hlinkClick>
            </a:endParaRPr>
          </a:p>
          <a:p>
            <a:pPr marL="285750" indent="-285750"/>
            <a:endParaRPr lang="en-IN" sz="2800" dirty="0"/>
          </a:p>
        </p:txBody>
      </p:sp>
      <p:sp>
        <p:nvSpPr>
          <p:cNvPr id="6" name="Slide Number Placeholder 5"/>
          <p:cNvSpPr>
            <a:spLocks noGrp="1"/>
          </p:cNvSpPr>
          <p:nvPr>
            <p:ph type="sldNum" sz="quarter" idx="12"/>
          </p:nvPr>
        </p:nvSpPr>
        <p:spPr/>
        <p:txBody>
          <a:bodyPr/>
          <a:lstStyle/>
          <a:p>
            <a:fld id="{0F8887D6-2A35-42AC-99C1-5E14D32EE4CF}" type="slidenum">
              <a:rPr lang="en-US" smtClean="0"/>
              <a:pPr/>
              <a:t>13</a:t>
            </a:fld>
            <a:endParaRPr lang="en-US" dirty="0"/>
          </a:p>
        </p:txBody>
      </p:sp>
    </p:spTree>
  </p:cSld>
  <p:clrMapOvr>
    <a:masterClrMapping/>
  </p:clrMapOvr>
  <p:transition advTm="4000">
    <p:cut/>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829F87B-ED49-669D-770A-FDD1BE0A4EE9}"/>
              </a:ext>
            </a:extLst>
          </p:cNvPr>
          <p:cNvSpPr>
            <a:spLocks noGrp="1"/>
          </p:cNvSpPr>
          <p:nvPr>
            <p:ph type="sldNum" sz="quarter" idx="12"/>
          </p:nvPr>
        </p:nvSpPr>
        <p:spPr/>
        <p:txBody>
          <a:bodyPr/>
          <a:lstStyle/>
          <a:p>
            <a:fld id="{0F8887D6-2A35-42AC-99C1-5E14D32EE4CF}" type="slidenum">
              <a:rPr lang="en-US" smtClean="0"/>
              <a:pPr/>
              <a:t>14</a:t>
            </a:fld>
            <a:endParaRPr lang="en-US" dirty="0"/>
          </a:p>
        </p:txBody>
      </p:sp>
      <p:sp>
        <p:nvSpPr>
          <p:cNvPr id="6" name="TextBox 5">
            <a:extLst>
              <a:ext uri="{FF2B5EF4-FFF2-40B4-BE49-F238E27FC236}">
                <a16:creationId xmlns:a16="http://schemas.microsoft.com/office/drawing/2014/main" id="{4EEF9C1B-2A60-E36B-3790-E53ADA7D492A}"/>
              </a:ext>
            </a:extLst>
          </p:cNvPr>
          <p:cNvSpPr txBox="1"/>
          <p:nvPr/>
        </p:nvSpPr>
        <p:spPr>
          <a:xfrm>
            <a:off x="2274426" y="3004952"/>
            <a:ext cx="3809742" cy="923330"/>
          </a:xfrm>
          <a:prstGeom prst="rect">
            <a:avLst/>
          </a:prstGeom>
          <a:noFill/>
        </p:spPr>
        <p:txBody>
          <a:bodyPr wrap="square">
            <a:spAutoFit/>
          </a:bodyPr>
          <a:lstStyle/>
          <a:p>
            <a:r>
              <a:rPr lang="en-IN" sz="5400" b="0" i="0" u="none" strike="noStrike" dirty="0">
                <a:solidFill>
                  <a:srgbClr val="000000"/>
                </a:solidFill>
                <a:effectLst/>
                <a:latin typeface="Times New Roman" panose="02020603050405020304" pitchFamily="18" charset="0"/>
              </a:rPr>
              <a:t>Thank You</a:t>
            </a:r>
            <a:endParaRPr lang="en-IN" dirty="0"/>
          </a:p>
        </p:txBody>
      </p:sp>
    </p:spTree>
    <p:extLst>
      <p:ext uri="{BB962C8B-B14F-4D97-AF65-F5344CB8AC3E}">
        <p14:creationId xmlns:p14="http://schemas.microsoft.com/office/powerpoint/2010/main" val="293414206"/>
      </p:ext>
    </p:extLst>
  </p:cSld>
  <p:clrMapOvr>
    <a:masterClrMapping/>
  </p:clrMapOvr>
  <p:transition advTm="4000">
    <p:cut/>
  </p:transition>
</p:sld>
</file>

<file path=ppt/theme/theme1.xml><?xml version="1.0" encoding="utf-8"?>
<a:theme xmlns:a="http://schemas.openxmlformats.org/drawingml/2006/main" name="Bubble Sor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838</TotalTime>
  <Words>1204</Words>
  <Application>Microsoft Office PowerPoint</Application>
  <PresentationFormat>On-screen Show (4:3)</PresentationFormat>
  <Paragraphs>127</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clcicgqyw0002obe2xroteu2c</vt:lpstr>
      <vt:lpstr>Times New Roman</vt:lpstr>
      <vt:lpstr>Bubble Sort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SDLC Diagram</vt:lpstr>
      <vt:lpstr>PowerPoint Presentation</vt:lpstr>
      <vt:lpstr>Challenges </vt:lpstr>
      <vt:lpstr>  Project Preview</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Cricket</dc:title>
  <dc:creator>abc</dc:creator>
  <cp:lastModifiedBy>Anubha Khanna</cp:lastModifiedBy>
  <cp:revision>59</cp:revision>
  <dcterms:created xsi:type="dcterms:W3CDTF">2022-12-12T14:14:34Z</dcterms:created>
  <dcterms:modified xsi:type="dcterms:W3CDTF">2026-05-13T12:22:16Z</dcterms:modified>
</cp:coreProperties>
</file>
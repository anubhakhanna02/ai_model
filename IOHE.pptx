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5"/>
  </p:notesMasterIdLst>
  <p:sldIdLst>
    <p:sldId id="268" r:id="rId2"/>
    <p:sldId id="267" r:id="rId3"/>
    <p:sldId id="271" r:id="rId4"/>
    <p:sldId id="273" r:id="rId5"/>
    <p:sldId id="272" r:id="rId6"/>
    <p:sldId id="274" r:id="rId7"/>
    <p:sldId id="275" r:id="rId8"/>
    <p:sldId id="280" r:id="rId9"/>
    <p:sldId id="277" r:id="rId10"/>
    <p:sldId id="281" r:id="rId11"/>
    <p:sldId id="282" r:id="rId12"/>
    <p:sldId id="278" r:id="rId13"/>
    <p:sldId id="279"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p:cViewPr varScale="1">
        <p:scale>
          <a:sx n="85" d="100"/>
          <a:sy n="85" d="100"/>
        </p:scale>
        <p:origin x="1406" y="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5856B9-C406-4639-9067-2E395665B7D5}" type="datetimeFigureOut">
              <a:rPr lang="en-US" smtClean="0"/>
              <a:t>4/28/2026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DE6F87D-6218-408A-83C8-6EA67CAFB35B}"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2BF24FC6-CC00-43B9-976D-7955F6CEF0B6}" type="datetime1">
              <a:rPr lang="en-US" smtClean="0"/>
              <a:t>4/28/2026</a:t>
            </a:fld>
            <a:endParaRPr lang="en-US" dirty="0"/>
          </a:p>
        </p:txBody>
      </p:sp>
      <p:sp>
        <p:nvSpPr>
          <p:cNvPr id="5" name="Footer Placeholder 4"/>
          <p:cNvSpPr>
            <a:spLocks noGrp="1"/>
          </p:cNvSpPr>
          <p:nvPr>
            <p:ph type="ftr" sz="quarter" idx="11"/>
          </p:nvPr>
        </p:nvSpPr>
        <p:spPr/>
        <p:txBody>
          <a:bodyPr/>
          <a:lstStyle>
            <a:lvl1pPr>
              <a:defRPr/>
            </a:lvl1pPr>
          </a:lstStyle>
          <a:p>
            <a:r>
              <a:rPr lang="en-US" dirty="0"/>
              <a:t>page-1</a:t>
            </a:r>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dirty="0"/>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dirty="0">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E7D1606C-8471-48E2-AD56-D4DC599AB0D1}" type="datetime1">
              <a:rPr lang="en-US" smtClean="0"/>
              <a:t>4/28/2026</a:t>
            </a:fld>
            <a:endParaRPr lang="en-US" dirty="0"/>
          </a:p>
        </p:txBody>
      </p:sp>
      <p:sp>
        <p:nvSpPr>
          <p:cNvPr id="11" name="Footer Placeholder 4"/>
          <p:cNvSpPr>
            <a:spLocks noGrp="1"/>
          </p:cNvSpPr>
          <p:nvPr>
            <p:ph type="ftr" sz="quarter" idx="11"/>
          </p:nvPr>
        </p:nvSpPr>
        <p:spPr/>
        <p:txBody>
          <a:bodyPr/>
          <a:lstStyle>
            <a:lvl1pPr>
              <a:defRPr/>
            </a:lvl1pPr>
          </a:lstStyle>
          <a:p>
            <a:r>
              <a:rPr lang="en-US" dirty="0"/>
              <a:t>page-1</a:t>
            </a:r>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dirty="0"/>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2F99AD2-C03F-4EF6-8A86-1D75233D7BD7}" type="datetime1">
              <a:rPr lang="en-US" smtClean="0"/>
              <a:t>4/28/2026</a:t>
            </a:fld>
            <a:endParaRPr lang="en-US" dirty="0"/>
          </a:p>
        </p:txBody>
      </p:sp>
      <p:sp>
        <p:nvSpPr>
          <p:cNvPr id="24" name="Footer Placeholder 23"/>
          <p:cNvSpPr>
            <a:spLocks noGrp="1"/>
          </p:cNvSpPr>
          <p:nvPr>
            <p:ph type="ftr" sz="quarter" idx="11"/>
          </p:nvPr>
        </p:nvSpPr>
        <p:spPr/>
        <p:txBody>
          <a:bodyPr/>
          <a:lstStyle/>
          <a:p>
            <a:r>
              <a:rPr lang="en-US" dirty="0"/>
              <a:t>page-1</a:t>
            </a:r>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dirty="0"/>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FD6591F3-80F4-4429-9759-5593A06E962D}" type="datetime1">
              <a:rPr lang="en-US" smtClean="0"/>
              <a:t>4/28/2026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r>
              <a:rPr lang="en-US" dirty="0"/>
              <a:t>page-1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dirty="0"/>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dirty="0">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dirty="0">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dirty="0">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ransition advTm="4000">
    <p:cut/>
  </p:transition>
  <p:hf hdr="0" ftr="0" dt="0"/>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eJ3YysWaP_A&amp;t=0s&amp;ab_channel=LamaDev" TargetMode="External"/><Relationship Id="rId2" Type="http://schemas.openxmlformats.org/officeDocument/2006/relationships/hyperlink" Target="https://www.youtube.com/watch?v=HFj5FMb0jwY&amp;t=958s&amp;ab_channel=LamaDev" TargetMode="External"/><Relationship Id="rId1" Type="http://schemas.openxmlformats.org/officeDocument/2006/relationships/slideLayout" Target="../slideLayouts/slideLayout3.xml"/><Relationship Id="rId4" Type="http://schemas.openxmlformats.org/officeDocument/2006/relationships/hyperlink" Target="http://www.googl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29544" y="1250757"/>
            <a:ext cx="6624736" cy="646331"/>
          </a:xfrm>
          <a:prstGeom prst="rect">
            <a:avLst/>
          </a:prstGeom>
          <a:noFill/>
        </p:spPr>
        <p:txBody>
          <a:bodyPr wrap="square" rtlCol="0">
            <a:spAutoFit/>
          </a:bodyPr>
          <a:lstStyle/>
          <a:p>
            <a:pPr algn="ctr"/>
            <a:r>
              <a:rPr lang="en-US" sz="3600" dirty="0">
                <a:solidFill>
                  <a:srgbClr val="FF0000"/>
                </a:solidFill>
                <a:latin typeface="Arial Black" pitchFamily="34" charset="0"/>
              </a:rPr>
              <a:t>IOHE Project</a:t>
            </a:r>
          </a:p>
        </p:txBody>
      </p:sp>
      <p:sp>
        <p:nvSpPr>
          <p:cNvPr id="5" name="TextBox 4"/>
          <p:cNvSpPr txBox="1"/>
          <p:nvPr/>
        </p:nvSpPr>
        <p:spPr>
          <a:xfrm>
            <a:off x="3275856" y="4653136"/>
            <a:ext cx="255198" cy="954107"/>
          </a:xfrm>
          <a:prstGeom prst="rect">
            <a:avLst/>
          </a:prstGeom>
          <a:noFill/>
        </p:spPr>
        <p:txBody>
          <a:bodyPr wrap="none" rtlCol="0">
            <a:spAutoFit/>
          </a:bodyPr>
          <a:lstStyle/>
          <a:p>
            <a:r>
              <a:rPr lang="en-US" sz="2000" dirty="0">
                <a:latin typeface="Times New Roman" pitchFamily="18" charset="0"/>
                <a:cs typeface="Times New Roman" pitchFamily="18" charset="0"/>
              </a:rPr>
              <a:t>:</a:t>
            </a:r>
          </a:p>
          <a:p>
            <a:endParaRPr lang="en-US" dirty="0"/>
          </a:p>
          <a:p>
            <a:endParaRPr lang="en-US" dirty="0"/>
          </a:p>
        </p:txBody>
      </p:sp>
      <p:sp>
        <p:nvSpPr>
          <p:cNvPr id="6" name="TextBox 5">
            <a:extLst>
              <a:ext uri="{FF2B5EF4-FFF2-40B4-BE49-F238E27FC236}">
                <a16:creationId xmlns:a16="http://schemas.microsoft.com/office/drawing/2014/main" id="{39596CC0-0544-9FD2-7AFD-B23ECB7AE8F4}"/>
              </a:ext>
            </a:extLst>
          </p:cNvPr>
          <p:cNvSpPr txBox="1"/>
          <p:nvPr/>
        </p:nvSpPr>
        <p:spPr>
          <a:xfrm>
            <a:off x="1907704" y="2780928"/>
            <a:ext cx="5112568" cy="2246769"/>
          </a:xfrm>
          <a:prstGeom prst="rect">
            <a:avLst/>
          </a:prstGeom>
          <a:solidFill>
            <a:schemeClr val="accent6">
              <a:lumMod val="60000"/>
              <a:lumOff val="40000"/>
            </a:schemeClr>
          </a:solidFill>
        </p:spPr>
        <p:txBody>
          <a:bodyPr wrap="square" rtlCol="0">
            <a:spAutoFit/>
          </a:bodyPr>
          <a:lstStyle/>
          <a:p>
            <a:r>
              <a:rPr lang="en-US" sz="2000" b="1" dirty="0"/>
              <a:t>Team Details:</a:t>
            </a:r>
          </a:p>
          <a:p>
            <a:r>
              <a:rPr lang="en-US" sz="2000" dirty="0"/>
              <a:t>           Anisha Singh           2210991274</a:t>
            </a:r>
          </a:p>
          <a:p>
            <a:r>
              <a:rPr lang="en-US" sz="2000" dirty="0"/>
              <a:t>           Anubha Khanna      2210991313</a:t>
            </a:r>
          </a:p>
          <a:p>
            <a:r>
              <a:rPr lang="en-US" sz="2000" dirty="0"/>
              <a:t>           Ansh Goyal              2210991294</a:t>
            </a:r>
          </a:p>
          <a:p>
            <a:r>
              <a:rPr lang="en-US" sz="2000" dirty="0">
                <a:solidFill>
                  <a:schemeClr val="bg1"/>
                </a:solidFill>
              </a:rPr>
              <a:t>           </a:t>
            </a:r>
            <a:r>
              <a:rPr lang="en-US" sz="2000" dirty="0"/>
              <a:t>Abhijeet Sharma    2210991150</a:t>
            </a:r>
            <a:endParaRPr lang="en-US" dirty="0"/>
          </a:p>
          <a:p>
            <a:r>
              <a:rPr lang="en-US" sz="2000" b="1" dirty="0">
                <a:latin typeface="Times New Roman" pitchFamily="18" charset="0"/>
                <a:cs typeface="Times New Roman" pitchFamily="18" charset="0"/>
              </a:rPr>
              <a:t>Supervised by</a:t>
            </a:r>
            <a:r>
              <a:rPr lang="en-US" sz="2000" dirty="0">
                <a:latin typeface="Times New Roman" pitchFamily="18" charset="0"/>
                <a:cs typeface="Times New Roman" pitchFamily="18" charset="0"/>
              </a:rPr>
              <a:t>: </a:t>
            </a:r>
            <a:endParaRPr lang="en-US" dirty="0">
              <a:solidFill>
                <a:schemeClr val="bg1"/>
              </a:solidFill>
            </a:endParaRPr>
          </a:p>
          <a:p>
            <a:r>
              <a:rPr lang="en-US" dirty="0">
                <a:solidFill>
                  <a:schemeClr val="tx1">
                    <a:lumMod val="95000"/>
                    <a:lumOff val="5000"/>
                  </a:schemeClr>
                </a:solidFill>
              </a:rPr>
              <a:t>            </a:t>
            </a:r>
            <a:r>
              <a:rPr lang="en-US" sz="2000" dirty="0">
                <a:solidFill>
                  <a:schemeClr val="tx1">
                    <a:lumMod val="95000"/>
                    <a:lumOff val="5000"/>
                  </a:schemeClr>
                </a:solidFill>
              </a:rPr>
              <a:t>Mr. Ajay Kumar</a:t>
            </a: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a:solidFill>
                  <a:srgbClr val="FF0000"/>
                </a:solidFill>
                <a:latin typeface="Times New Roman" pitchFamily="18" charset="0"/>
                <a:cs typeface="Times New Roman" pitchFamily="18" charset="0"/>
              </a:rPr>
              <a:t>Chitkara University Institute of Engineering and Technology, </a:t>
            </a:r>
          </a:p>
          <a:p>
            <a:pPr algn="ctr"/>
            <a:r>
              <a:rPr lang="en-US" sz="2000" b="1" dirty="0">
                <a:solidFill>
                  <a:srgbClr val="FF0000"/>
                </a:solidFill>
                <a:latin typeface="Times New Roman" pitchFamily="18" charset="0"/>
                <a:cs typeface="Times New Roman" pitchFamily="18" charset="0"/>
              </a:rPr>
              <a:t>Chitkara University, Punjab</a:t>
            </a:r>
          </a:p>
        </p:txBody>
      </p:sp>
      <p:sp>
        <p:nvSpPr>
          <p:cNvPr id="8" name="Slide Number Placeholder 7"/>
          <p:cNvSpPr>
            <a:spLocks noGrp="1"/>
          </p:cNvSpPr>
          <p:nvPr>
            <p:ph type="sldNum" sz="quarter" idx="12"/>
          </p:nvPr>
        </p:nvSpPr>
        <p:spPr/>
        <p:txBody>
          <a:bodyPr/>
          <a:lstStyle/>
          <a:p>
            <a:fld id="{0F8887D6-2A35-42AC-99C1-5E14D32EE4CF}" type="slidenum">
              <a:rPr lang="en-US" smtClean="0"/>
              <a:pPr/>
              <a:t>1</a:t>
            </a:fld>
            <a:endParaRPr lang="en-US" dirty="0"/>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Table of Contents</a:t>
            </a:r>
            <a:endParaRPr lang="en-US" b="1" dirty="0">
              <a:latin typeface="Times New Roman" pitchFamily="18" charset="0"/>
              <a:cs typeface="Times New Roman" pitchFamily="18" charset="0"/>
            </a:endParaRPr>
          </a:p>
        </p:txBody>
      </p:sp>
      <p:sp>
        <p:nvSpPr>
          <p:cNvPr id="3" name="TextBox 2"/>
          <p:cNvSpPr txBox="1"/>
          <p:nvPr/>
        </p:nvSpPr>
        <p:spPr>
          <a:xfrm>
            <a:off x="707232" y="1124744"/>
            <a:ext cx="6912768" cy="4247317"/>
          </a:xfrm>
          <a:prstGeom prst="rect">
            <a:avLst/>
          </a:prstGeom>
          <a:noFill/>
        </p:spPr>
        <p:txBody>
          <a:bodyPr wrap="square" rtlCol="0">
            <a:spAutoFit/>
          </a:bodyPr>
          <a:lstStyle/>
          <a:p>
            <a:pPr>
              <a:buFont typeface="Arial" pitchFamily="34" charset="0"/>
              <a:buChar char="•"/>
            </a:pPr>
            <a:r>
              <a:rPr lang="en-US" sz="2200" dirty="0">
                <a:latin typeface="Times New Roman" pitchFamily="18" charset="0"/>
                <a:cs typeface="Times New Roman" pitchFamily="18" charset="0"/>
              </a:rPr>
              <a:t> Introduction</a:t>
            </a:r>
          </a:p>
          <a:p>
            <a:pPr>
              <a:buFont typeface="Arial" pitchFamily="34" charset="0"/>
              <a:buChar char="•"/>
            </a:pPr>
            <a:r>
              <a:rPr lang="en-US" sz="2200" dirty="0">
                <a:latin typeface="Times New Roman" pitchFamily="18" charset="0"/>
                <a:cs typeface="Times New Roman" pitchFamily="18" charset="0"/>
              </a:rPr>
              <a:t> Problem Statement</a:t>
            </a:r>
          </a:p>
          <a:p>
            <a:pPr>
              <a:buFont typeface="Arial" pitchFamily="34" charset="0"/>
              <a:buChar char="•"/>
            </a:pPr>
            <a:r>
              <a:rPr lang="en-US" sz="2200" dirty="0">
                <a:latin typeface="Times New Roman" pitchFamily="18" charset="0"/>
                <a:cs typeface="Times New Roman" pitchFamily="18" charset="0"/>
              </a:rPr>
              <a:t> Software interaction</a:t>
            </a:r>
          </a:p>
          <a:p>
            <a:pPr>
              <a:buFont typeface="Arial" pitchFamily="34" charset="0"/>
              <a:buChar char="•"/>
            </a:pPr>
            <a:r>
              <a:rPr lang="en-US" sz="2200" dirty="0">
                <a:latin typeface="Times New Roman" pitchFamily="18" charset="0"/>
                <a:cs typeface="Times New Roman" pitchFamily="18" charset="0"/>
              </a:rPr>
              <a:t> Objectives</a:t>
            </a:r>
          </a:p>
          <a:p>
            <a:pPr>
              <a:buFont typeface="Arial" pitchFamily="34" charset="0"/>
              <a:buChar char="•"/>
            </a:pPr>
            <a:r>
              <a:rPr lang="en-US" sz="2200" dirty="0">
                <a:latin typeface="Times New Roman" pitchFamily="18" charset="0"/>
                <a:cs typeface="Times New Roman" pitchFamily="18" charset="0"/>
              </a:rPr>
              <a:t> SDLC Diagram</a:t>
            </a:r>
          </a:p>
          <a:p>
            <a:pPr>
              <a:buFont typeface="Arial" pitchFamily="34" charset="0"/>
              <a:buChar char="•"/>
            </a:pPr>
            <a:r>
              <a:rPr lang="en-US" sz="2200" dirty="0">
                <a:latin typeface="Times New Roman" pitchFamily="18" charset="0"/>
                <a:cs typeface="Times New Roman" pitchFamily="18" charset="0"/>
              </a:rPr>
              <a:t> Data Flow Diagram</a:t>
            </a:r>
          </a:p>
          <a:p>
            <a:pPr>
              <a:buFont typeface="Arial" pitchFamily="34" charset="0"/>
              <a:buChar char="•"/>
            </a:pPr>
            <a:r>
              <a:rPr lang="en-US" sz="2200" dirty="0">
                <a:latin typeface="Times New Roman" pitchFamily="18" charset="0"/>
                <a:cs typeface="Times New Roman" pitchFamily="18" charset="0"/>
              </a:rPr>
              <a:t> Challenges</a:t>
            </a:r>
          </a:p>
          <a:p>
            <a:pPr>
              <a:buFont typeface="Arial" pitchFamily="34" charset="0"/>
              <a:buChar char="•"/>
            </a:pPr>
            <a:r>
              <a:rPr lang="en-US" sz="2200" dirty="0">
                <a:latin typeface="Times New Roman" pitchFamily="18" charset="0"/>
                <a:cs typeface="Times New Roman" pitchFamily="18" charset="0"/>
              </a:rPr>
              <a:t> Project Preview</a:t>
            </a:r>
          </a:p>
          <a:p>
            <a:pPr>
              <a:buFont typeface="Arial" pitchFamily="34" charset="0"/>
              <a:buChar char="•"/>
            </a:pPr>
            <a:r>
              <a:rPr lang="en-US" sz="2200" dirty="0">
                <a:latin typeface="Times New Roman" pitchFamily="18" charset="0"/>
                <a:cs typeface="Times New Roman" pitchFamily="18" charset="0"/>
              </a:rPr>
              <a:t> Future scope</a:t>
            </a:r>
          </a:p>
          <a:p>
            <a:pPr>
              <a:buFont typeface="Arial" pitchFamily="34" charset="0"/>
              <a:buChar char="•"/>
            </a:pPr>
            <a:r>
              <a:rPr lang="en-US" sz="2200" dirty="0">
                <a:latin typeface="Times New Roman" pitchFamily="18" charset="0"/>
                <a:cs typeface="Times New Roman" pitchFamily="18" charset="0"/>
              </a:rPr>
              <a:t> References/Links used</a:t>
            </a:r>
          </a:p>
          <a:p>
            <a:pPr>
              <a:buFont typeface="Arial" pitchFamily="34" charset="0"/>
              <a:buChar char="•"/>
            </a:pPr>
            <a:endParaRPr lang="en-US" sz="2200" dirty="0">
              <a:latin typeface="Times New Roman" pitchFamily="18" charset="0"/>
              <a:cs typeface="Times New Roman" pitchFamily="18" charset="0"/>
            </a:endParaRPr>
          </a:p>
          <a:p>
            <a:pPr>
              <a:buFont typeface="Arial" pitchFamily="34" charset="0"/>
              <a:buChar char="•"/>
            </a:pPr>
            <a:endParaRPr lang="en-US" sz="28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0F8887D6-2A35-42AC-99C1-5E14D32EE4CF}" type="slidenum">
              <a:rPr lang="en-US" smtClean="0"/>
              <a:pPr/>
              <a:t>2</a:t>
            </a:fld>
            <a:endParaRPr lang="en-US" dirty="0"/>
          </a:p>
        </p:txBody>
      </p:sp>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Introduction</a:t>
            </a:r>
          </a:p>
        </p:txBody>
      </p:sp>
      <p:sp>
        <p:nvSpPr>
          <p:cNvPr id="3" name="Rectangle 2"/>
          <p:cNvSpPr/>
          <p:nvPr/>
        </p:nvSpPr>
        <p:spPr>
          <a:xfrm>
            <a:off x="395536" y="1196752"/>
            <a:ext cx="8136904" cy="4801314"/>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Artificial Intelligence is one of the most important technologies in today’s digital world. It is used in many domains such as healthcare, finance, transportation, e-commerce, and education. Systems like recommendation engines, virtual assistants, fraud detection systems, and autonomous vehicles depend heavily on AI to process large amounts of data and make intelligent decisions.</a:t>
            </a:r>
          </a:p>
          <a:p>
            <a:r>
              <a:rPr lang="en-US" dirty="0">
                <a:latin typeface="Times New Roman" panose="02020603050405020304" pitchFamily="18" charset="0"/>
                <a:cs typeface="Times New Roman" panose="02020603050405020304" pitchFamily="18" charset="0"/>
              </a:rPr>
              <a:t>Most AI systems are built on the assumption that </a:t>
            </a:r>
            <a:r>
              <a:rPr lang="en-US" b="1" dirty="0">
                <a:latin typeface="Times New Roman" panose="02020603050405020304" pitchFamily="18" charset="0"/>
                <a:cs typeface="Times New Roman" panose="02020603050405020304" pitchFamily="18" charset="0"/>
              </a:rPr>
              <a:t>more data leads to better performance</a:t>
            </a:r>
            <a:r>
              <a:rPr lang="en-US" dirty="0">
                <a:latin typeface="Times New Roman" panose="02020603050405020304" pitchFamily="18" charset="0"/>
                <a:cs typeface="Times New Roman" panose="02020603050405020304" pitchFamily="18" charset="0"/>
              </a:rPr>
              <a:t>. While this is true initially, continuous accumulation of data creates several long-term problems. As data grows, it increases storage requirements, slows down processing, and introduces outdated or irrelevant information into the system.</a:t>
            </a:r>
          </a:p>
          <a:p>
            <a:r>
              <a:rPr lang="en-US" dirty="0">
                <a:latin typeface="Times New Roman" panose="02020603050405020304" pitchFamily="18" charset="0"/>
                <a:cs typeface="Times New Roman" panose="02020603050405020304" pitchFamily="18" charset="0"/>
              </a:rPr>
              <a:t>In contrast, human intelligence works differently. The human brain does not store everything permanently. It selectively retains useful information and gradually forgets less important details. This process reduces cognitive load and improves decision-making.</a:t>
            </a:r>
          </a:p>
          <a:p>
            <a:r>
              <a:rPr lang="en-US" dirty="0">
                <a:latin typeface="Times New Roman" panose="02020603050405020304" pitchFamily="18" charset="0"/>
                <a:cs typeface="Times New Roman" panose="02020603050405020304" pitchFamily="18" charset="0"/>
              </a:rPr>
              <a:t>Inspired by this, our research introduces the concept of </a:t>
            </a:r>
            <a:r>
              <a:rPr lang="en-US" b="1" dirty="0">
                <a:latin typeface="Times New Roman" panose="02020603050405020304" pitchFamily="18" charset="0"/>
                <a:cs typeface="Times New Roman" panose="02020603050405020304" pitchFamily="18" charset="0"/>
              </a:rPr>
              <a:t>digital forgetting</a:t>
            </a:r>
            <a:r>
              <a:rPr lang="en-US" dirty="0">
                <a:latin typeface="Times New Roman" panose="02020603050405020304" pitchFamily="18" charset="0"/>
                <a:cs typeface="Times New Roman" panose="02020603050405020304" pitchFamily="18" charset="0"/>
              </a:rPr>
              <a:t>, where AI systems intelligently remove unnecessary or outdated data while retaining valuable information. This helps AI systems become more efficient, adaptive, and closer to human-like intelligence.</a:t>
            </a:r>
          </a:p>
        </p:txBody>
      </p:sp>
      <p:sp>
        <p:nvSpPr>
          <p:cNvPr id="5" name="Slide Number Placeholder 4"/>
          <p:cNvSpPr>
            <a:spLocks noGrp="1"/>
          </p:cNvSpPr>
          <p:nvPr>
            <p:ph type="sldNum" sz="quarter" idx="12"/>
          </p:nvPr>
        </p:nvSpPr>
        <p:spPr/>
        <p:txBody>
          <a:bodyPr/>
          <a:lstStyle/>
          <a:p>
            <a:fld id="{0F8887D6-2A35-42AC-99C1-5E14D32EE4CF}" type="slidenum">
              <a:rPr lang="en-US" smtClean="0"/>
              <a:pPr/>
              <a:t>3</a:t>
            </a:fld>
            <a:endParaRPr lang="en-US" dirty="0"/>
          </a:p>
        </p:txBody>
      </p:sp>
    </p:spTree>
  </p:cSld>
  <p:clrMapOvr>
    <a:masterClrMapping/>
  </p:clrMapOvr>
  <p:transition advTm="4000">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Problem</a:t>
            </a:r>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Statement</a:t>
            </a:r>
          </a:p>
        </p:txBody>
      </p:sp>
      <p:sp>
        <p:nvSpPr>
          <p:cNvPr id="4" name="TextBox 3">
            <a:extLst>
              <a:ext uri="{FF2B5EF4-FFF2-40B4-BE49-F238E27FC236}">
                <a16:creationId xmlns:a16="http://schemas.microsoft.com/office/drawing/2014/main" id="{1177875A-E5A9-D435-C66C-D6A2858A5B1F}"/>
              </a:ext>
            </a:extLst>
          </p:cNvPr>
          <p:cNvSpPr txBox="1"/>
          <p:nvPr/>
        </p:nvSpPr>
        <p:spPr>
          <a:xfrm>
            <a:off x="467544" y="1268760"/>
            <a:ext cx="8136904" cy="3877985"/>
          </a:xfrm>
          <a:prstGeom prst="rect">
            <a:avLst/>
          </a:prstGeom>
          <a:noFill/>
        </p:spPr>
        <p:txBody>
          <a:bodyPr wrap="square" rtlCol="0">
            <a:spAutoFit/>
          </a:bodyPr>
          <a:lstStyle/>
          <a:p>
            <a:pPr>
              <a:buNone/>
            </a:pPr>
            <a:r>
              <a:rPr lang="en-US" dirty="0">
                <a:latin typeface="Times New Roman" panose="02020603050405020304" pitchFamily="18" charset="0"/>
                <a:cs typeface="Times New Roman" panose="02020603050405020304" pitchFamily="18" charset="0"/>
              </a:rPr>
              <a:t>Modern AI systems face several major challenges due to uncontrolled data storage.</a:t>
            </a:r>
          </a:p>
          <a:p>
            <a:pPr>
              <a:buNone/>
            </a:pPr>
            <a:r>
              <a:rPr lang="en-US" dirty="0">
                <a:latin typeface="Times New Roman" panose="02020603050405020304" pitchFamily="18" charset="0"/>
                <a:cs typeface="Times New Roman" panose="02020603050405020304" pitchFamily="18" charset="0"/>
              </a:rPr>
              <a:t>First, there is </a:t>
            </a:r>
            <a:r>
              <a:rPr lang="en-US" b="1" dirty="0">
                <a:latin typeface="Times New Roman" panose="02020603050405020304" pitchFamily="18" charset="0"/>
                <a:cs typeface="Times New Roman" panose="02020603050405020304" pitchFamily="18" charset="0"/>
              </a:rPr>
              <a:t>data overload</a:t>
            </a:r>
            <a:r>
              <a:rPr lang="en-US" dirty="0">
                <a:latin typeface="Times New Roman" panose="02020603050405020304" pitchFamily="18" charset="0"/>
                <a:cs typeface="Times New Roman" panose="02020603050405020304" pitchFamily="18" charset="0"/>
              </a:rPr>
              <a:t>. AI systems continuously collect data from users, sensors, and applications. This leads to exponential growth in stored data, making systems difficult to manage.</a:t>
            </a:r>
          </a:p>
          <a:p>
            <a:pPr>
              <a:buNone/>
            </a:pPr>
            <a:r>
              <a:rPr lang="en-US" dirty="0">
                <a:latin typeface="Times New Roman" panose="02020603050405020304" pitchFamily="18" charset="0"/>
                <a:cs typeface="Times New Roman" panose="02020603050405020304" pitchFamily="18" charset="0"/>
              </a:rPr>
              <a:t>Second, </a:t>
            </a:r>
            <a:r>
              <a:rPr lang="en-US" b="1" dirty="0">
                <a:latin typeface="Times New Roman" panose="02020603050405020304" pitchFamily="18" charset="0"/>
                <a:cs typeface="Times New Roman" panose="02020603050405020304" pitchFamily="18" charset="0"/>
              </a:rPr>
              <a:t>computational complexity increases</a:t>
            </a:r>
            <a:r>
              <a:rPr lang="en-US" dirty="0">
                <a:latin typeface="Times New Roman" panose="02020603050405020304" pitchFamily="18" charset="0"/>
                <a:cs typeface="Times New Roman" panose="02020603050405020304" pitchFamily="18" charset="0"/>
              </a:rPr>
              <a:t>. Larger datasets require more processing power, which slows down training and prediction.</a:t>
            </a:r>
          </a:p>
          <a:p>
            <a:pPr>
              <a:buNone/>
            </a:pPr>
            <a:r>
              <a:rPr lang="en-US" dirty="0">
                <a:latin typeface="Times New Roman" panose="02020603050405020304" pitchFamily="18" charset="0"/>
                <a:cs typeface="Times New Roman" panose="02020603050405020304" pitchFamily="18" charset="0"/>
              </a:rPr>
              <a:t>Third, </a:t>
            </a:r>
            <a:r>
              <a:rPr lang="en-US" b="1" dirty="0">
                <a:latin typeface="Times New Roman" panose="02020603050405020304" pitchFamily="18" charset="0"/>
                <a:cs typeface="Times New Roman" panose="02020603050405020304" pitchFamily="18" charset="0"/>
              </a:rPr>
              <a:t>outdated data remains in the system</a:t>
            </a:r>
            <a:r>
              <a:rPr lang="en-US" dirty="0">
                <a:latin typeface="Times New Roman" panose="02020603050405020304" pitchFamily="18" charset="0"/>
                <a:cs typeface="Times New Roman" panose="02020603050405020304" pitchFamily="18" charset="0"/>
              </a:rPr>
              <a:t>. Old data may not represent current trends and can negatively affect predictions.</a:t>
            </a:r>
          </a:p>
          <a:p>
            <a:pPr>
              <a:buNone/>
            </a:pPr>
            <a:r>
              <a:rPr lang="en-US" dirty="0">
                <a:latin typeface="Times New Roman" panose="02020603050405020304" pitchFamily="18" charset="0"/>
                <a:cs typeface="Times New Roman" panose="02020603050405020304" pitchFamily="18" charset="0"/>
              </a:rPr>
              <a:t>Fourth, there are </a:t>
            </a:r>
            <a:r>
              <a:rPr lang="en-US" b="1" dirty="0">
                <a:latin typeface="Times New Roman" panose="02020603050405020304" pitchFamily="18" charset="0"/>
                <a:cs typeface="Times New Roman" panose="02020603050405020304" pitchFamily="18" charset="0"/>
              </a:rPr>
              <a:t>privacy concerns</a:t>
            </a:r>
            <a:r>
              <a:rPr lang="en-US" dirty="0">
                <a:latin typeface="Times New Roman" panose="02020603050405020304" pitchFamily="18" charset="0"/>
                <a:cs typeface="Times New Roman" panose="02020603050405020304" pitchFamily="18" charset="0"/>
              </a:rPr>
              <a:t>. Storing personal data indefinitely can violate regulations such as GDPR, which includes the “right to be forgotten.”</a:t>
            </a:r>
          </a:p>
          <a:p>
            <a:pPr>
              <a:buNone/>
            </a:pPr>
            <a:r>
              <a:rPr lang="en-US" dirty="0">
                <a:latin typeface="Times New Roman" panose="02020603050405020304" pitchFamily="18" charset="0"/>
                <a:cs typeface="Times New Roman" panose="02020603050405020304" pitchFamily="18" charset="0"/>
              </a:rPr>
              <a:t>Finally, </a:t>
            </a:r>
            <a:r>
              <a:rPr lang="en-US" b="1" dirty="0">
                <a:latin typeface="Times New Roman" panose="02020603050405020304" pitchFamily="18" charset="0"/>
                <a:cs typeface="Times New Roman" panose="02020603050405020304" pitchFamily="18" charset="0"/>
              </a:rPr>
              <a:t>resource consumption increases</a:t>
            </a:r>
            <a:r>
              <a:rPr lang="en-US" dirty="0">
                <a:latin typeface="Times New Roman" panose="02020603050405020304" pitchFamily="18" charset="0"/>
                <a:cs typeface="Times New Roman" panose="02020603050405020304" pitchFamily="18" charset="0"/>
              </a:rPr>
              <a:t>, leading to higher storage and operational costs.</a:t>
            </a:r>
          </a:p>
          <a:p>
            <a:endParaRPr lang="en-IN" sz="24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0F8887D6-2A35-42AC-99C1-5E14D32EE4CF}" type="slidenum">
              <a:rPr lang="en-US" smtClean="0"/>
              <a:pPr/>
              <a:t>4</a:t>
            </a:fld>
            <a:endParaRPr lang="en-US" dirty="0"/>
          </a:p>
        </p:txBody>
      </p:sp>
    </p:spTree>
  </p:cSld>
  <p:clrMapOvr>
    <a:masterClrMapping/>
  </p:clrMapOvr>
  <p:transition advTm="4000">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Software</a:t>
            </a:r>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Interaction</a:t>
            </a:r>
          </a:p>
        </p:txBody>
      </p:sp>
      <p:sp>
        <p:nvSpPr>
          <p:cNvPr id="3" name="Rectangle 2"/>
          <p:cNvSpPr/>
          <p:nvPr/>
        </p:nvSpPr>
        <p:spPr>
          <a:xfrm>
            <a:off x="457200" y="986136"/>
            <a:ext cx="8136904" cy="5724644"/>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ForgetAI</a:t>
            </a:r>
            <a:r>
              <a:rPr lang="en-US" dirty="0">
                <a:latin typeface="Times New Roman" panose="02020603050405020304" pitchFamily="18" charset="0"/>
                <a:cs typeface="Times New Roman" panose="02020603050405020304" pitchFamily="18" charset="0"/>
              </a:rPr>
              <a:t> system demonstrates how digital forgetting works in practice.</a:t>
            </a:r>
          </a:p>
          <a:p>
            <a:r>
              <a:rPr lang="en-US" dirty="0">
                <a:latin typeface="Times New Roman" panose="02020603050405020304" pitchFamily="18" charset="0"/>
                <a:cs typeface="Times New Roman" panose="02020603050405020304" pitchFamily="18" charset="0"/>
              </a:rPr>
              <a:t>When a user inputs data (such as text or messages), the system stores it in a database along with metadata like importance, usage, and timestamp.</a:t>
            </a:r>
          </a:p>
          <a:p>
            <a:r>
              <a:rPr lang="en-US" dirty="0">
                <a:latin typeface="Times New Roman" panose="02020603050405020304" pitchFamily="18" charset="0"/>
                <a:cs typeface="Times New Roman" panose="02020603050405020304" pitchFamily="18" charset="0"/>
              </a:rPr>
              <a:t>The system then processes this data using a mathematical model. It calculates a score based 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Importance of the data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Frequency of usage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 elapsed (decay factor) </a:t>
            </a:r>
          </a:p>
          <a:p>
            <a:r>
              <a:rPr lang="en-US" dirty="0">
                <a:latin typeface="Times New Roman" panose="02020603050405020304" pitchFamily="18" charset="0"/>
                <a:cs typeface="Times New Roman" panose="02020603050405020304" pitchFamily="18" charset="0"/>
              </a:rPr>
              <a:t>Based on this score: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High-score data is retained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Low-score data is removed </a:t>
            </a:r>
          </a:p>
          <a:p>
            <a:r>
              <a:rPr lang="en-US" dirty="0">
                <a:latin typeface="Times New Roman" panose="02020603050405020304" pitchFamily="18" charset="0"/>
                <a:cs typeface="Times New Roman" panose="02020603050405020304" pitchFamily="18" charset="0"/>
              </a:rPr>
              <a:t>The results are displayed on a dashboard where users can see: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Stored data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Forgotten data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Memory efficiency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Graphs and comparisons </a:t>
            </a:r>
          </a:p>
          <a:p>
            <a:r>
              <a:rPr lang="en-US" b="1" dirty="0">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This creates a clear comparison between:</a:t>
            </a:r>
          </a:p>
          <a:p>
            <a:r>
              <a:rPr lang="en-US" dirty="0">
                <a:latin typeface="Times New Roman" panose="02020603050405020304" pitchFamily="18" charset="0"/>
                <a:cs typeface="Times New Roman" panose="02020603050405020304" pitchFamily="18" charset="0"/>
              </a:rPr>
              <a:t>Normal AI (stores everything) </a:t>
            </a:r>
          </a:p>
          <a:p>
            <a:r>
              <a:rPr lang="en-US" dirty="0" err="1">
                <a:latin typeface="Times New Roman" panose="02020603050405020304" pitchFamily="18" charset="0"/>
                <a:cs typeface="Times New Roman" panose="02020603050405020304" pitchFamily="18" charset="0"/>
              </a:rPr>
              <a:t>ForgetAI</a:t>
            </a:r>
            <a:r>
              <a:rPr lang="en-US" dirty="0">
                <a:latin typeface="Times New Roman" panose="02020603050405020304" pitchFamily="18" charset="0"/>
                <a:cs typeface="Times New Roman" panose="02020603050405020304" pitchFamily="18" charset="0"/>
              </a:rPr>
              <a:t> (filters data intelligently) </a:t>
            </a:r>
          </a:p>
          <a:p>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0F8887D6-2A35-42AC-99C1-5E14D32EE4CF}" type="slidenum">
              <a:rPr lang="en-US" smtClean="0"/>
              <a:pPr/>
              <a:t>5</a:t>
            </a:fld>
            <a:endParaRPr lang="en-US" dirty="0"/>
          </a:p>
        </p:txBody>
      </p:sp>
    </p:spTree>
  </p:cSld>
  <p:clrMapOvr>
    <a:masterClrMapping/>
  </p:clrMapOvr>
  <p:transition advTm="400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Objectives</a:t>
            </a:r>
          </a:p>
        </p:txBody>
      </p:sp>
      <p:sp>
        <p:nvSpPr>
          <p:cNvPr id="3" name="Rectangle 2"/>
          <p:cNvSpPr/>
          <p:nvPr/>
        </p:nvSpPr>
        <p:spPr>
          <a:xfrm>
            <a:off x="395536" y="1196752"/>
            <a:ext cx="8136904" cy="2800767"/>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The main objectives of this research are:</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introduce the concept of digital forgetting in AI systems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reduce memory overload and improve system efficiency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remove outdated and irrelevant data automatically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improve decision-making by retaining only useful information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enhance privacy and comply with data protection laws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AI systems that behave more like human memory</a:t>
            </a:r>
          </a:p>
          <a:p>
            <a:pPr marL="457200" indent="-457200" algn="l">
              <a:buFont typeface="Arial" panose="020B0604020202020204" pitchFamily="34" charset="0"/>
              <a:buChar char="•"/>
            </a:pPr>
            <a:endParaRPr lang="en-US" sz="2800" b="0" i="0" dirty="0">
              <a:solidFill>
                <a:schemeClr val="tx1">
                  <a:lumMod val="95000"/>
                  <a:lumOff val="5000"/>
                </a:schemeClr>
              </a:solidFill>
              <a:effectLst/>
              <a:latin typeface="clcicgqyw0002obe2xroteu2c"/>
            </a:endParaRPr>
          </a:p>
        </p:txBody>
      </p:sp>
      <p:sp>
        <p:nvSpPr>
          <p:cNvPr id="5" name="Slide Number Placeholder 4"/>
          <p:cNvSpPr>
            <a:spLocks noGrp="1"/>
          </p:cNvSpPr>
          <p:nvPr>
            <p:ph type="sldNum" sz="quarter" idx="12"/>
          </p:nvPr>
        </p:nvSpPr>
        <p:spPr/>
        <p:txBody>
          <a:bodyPr/>
          <a:lstStyle/>
          <a:p>
            <a:fld id="{0F8887D6-2A35-42AC-99C1-5E14D32EE4CF}" type="slidenum">
              <a:rPr lang="en-US" smtClean="0"/>
              <a:pPr/>
              <a:t>6</a:t>
            </a:fld>
            <a:endParaRPr lang="en-US" dirty="0"/>
          </a:p>
        </p:txBody>
      </p:sp>
    </p:spTree>
  </p:cSld>
  <p:clrMapOvr>
    <a:masterClrMapping/>
  </p:clrMapOvr>
  <p:transition advTm="4000">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100012"/>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SDLC</a:t>
            </a:r>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Diagram</a:t>
            </a:r>
          </a:p>
        </p:txBody>
      </p:sp>
      <p:sp>
        <p:nvSpPr>
          <p:cNvPr id="5" name="Slide Number Placeholder 4"/>
          <p:cNvSpPr>
            <a:spLocks noGrp="1"/>
          </p:cNvSpPr>
          <p:nvPr>
            <p:ph type="sldNum" sz="quarter" idx="12"/>
          </p:nvPr>
        </p:nvSpPr>
        <p:spPr/>
        <p:txBody>
          <a:bodyPr/>
          <a:lstStyle/>
          <a:p>
            <a:fld id="{0F8887D6-2A35-42AC-99C1-5E14D32EE4CF}" type="slidenum">
              <a:rPr lang="en-US" smtClean="0"/>
              <a:pPr/>
              <a:t>7</a:t>
            </a:fld>
            <a:endParaRPr lang="en-US" dirty="0"/>
          </a:p>
        </p:txBody>
      </p:sp>
      <p:pic>
        <p:nvPicPr>
          <p:cNvPr id="6" name="Picture 5">
            <a:extLst>
              <a:ext uri="{FF2B5EF4-FFF2-40B4-BE49-F238E27FC236}">
                <a16:creationId xmlns:a16="http://schemas.microsoft.com/office/drawing/2014/main" id="{B60BD5F4-5D58-E6F5-C227-D4267A9FAC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52736"/>
            <a:ext cx="9144000" cy="5142586"/>
          </a:xfrm>
          <a:prstGeom prst="rect">
            <a:avLst/>
          </a:prstGeom>
        </p:spPr>
      </p:pic>
    </p:spTree>
  </p:cSld>
  <p:clrMapOvr>
    <a:masterClrMapping/>
  </p:clrMapOvr>
  <p:transition advTm="4000">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82D40-2DB2-B4FC-8E9E-36E75999EAA1}"/>
              </a:ext>
            </a:extLst>
          </p:cNvPr>
          <p:cNvSpPr>
            <a:spLocks noGrp="1"/>
          </p:cNvSpPr>
          <p:nvPr>
            <p:ph type="title"/>
          </p:nvPr>
        </p:nvSpPr>
        <p:spPr/>
        <p:txBody>
          <a:bodyPr/>
          <a:lstStyle/>
          <a:p>
            <a:pPr algn="l"/>
            <a:r>
              <a:rPr lang="en-IN" dirty="0"/>
              <a:t>  </a:t>
            </a:r>
            <a:r>
              <a:rPr lang="en-IN" b="1" dirty="0"/>
              <a:t>SDLC</a:t>
            </a:r>
            <a:r>
              <a:rPr lang="en-IN" dirty="0"/>
              <a:t> </a:t>
            </a:r>
            <a:r>
              <a:rPr lang="en-IN" b="1" dirty="0"/>
              <a:t>Diagram</a:t>
            </a:r>
          </a:p>
        </p:txBody>
      </p:sp>
      <p:sp>
        <p:nvSpPr>
          <p:cNvPr id="3" name="Content Placeholder 2">
            <a:extLst>
              <a:ext uri="{FF2B5EF4-FFF2-40B4-BE49-F238E27FC236}">
                <a16:creationId xmlns:a16="http://schemas.microsoft.com/office/drawing/2014/main" id="{E93C43C2-0BFE-9339-0EF2-A2F2250FCC4C}"/>
              </a:ext>
            </a:extLst>
          </p:cNvPr>
          <p:cNvSpPr>
            <a:spLocks noGrp="1"/>
          </p:cNvSpPr>
          <p:nvPr>
            <p:ph idx="1"/>
          </p:nvPr>
        </p:nvSpPr>
        <p:spPr>
          <a:xfrm>
            <a:off x="395536" y="980728"/>
            <a:ext cx="8229600" cy="5256584"/>
          </a:xfrm>
        </p:spPr>
        <p:txBody>
          <a:bodyPr/>
          <a:lstStyle/>
          <a:p>
            <a:pPr marL="0" indent="0">
              <a:buNone/>
            </a:pPr>
            <a:r>
              <a:rPr lang="en-US" sz="1800" dirty="0"/>
              <a:t>The development of the </a:t>
            </a:r>
            <a:r>
              <a:rPr lang="en-US" sz="1800" dirty="0" err="1"/>
              <a:t>ForgetAI</a:t>
            </a:r>
            <a:r>
              <a:rPr lang="en-US" sz="1800" dirty="0"/>
              <a:t> system follows the Software Development Life Cycle:</a:t>
            </a:r>
          </a:p>
          <a:p>
            <a:r>
              <a:rPr lang="en-US" sz="1800" b="1" dirty="0"/>
              <a:t>Requirement Analysis</a:t>
            </a:r>
            <a:br>
              <a:rPr lang="en-US" sz="1800" dirty="0"/>
            </a:br>
            <a:r>
              <a:rPr lang="en-US" sz="1800" dirty="0"/>
              <a:t>We identified the main problem: AI systems store too much data, leading to inefficiency. </a:t>
            </a:r>
          </a:p>
          <a:p>
            <a:r>
              <a:rPr lang="en-US" sz="1800" b="1" dirty="0"/>
              <a:t>System Design</a:t>
            </a:r>
            <a:br>
              <a:rPr lang="en-US" sz="1800" dirty="0"/>
            </a:br>
            <a:r>
              <a:rPr lang="en-US" sz="1800" dirty="0"/>
              <a:t>We designed a system architecture that includes input, storage, processing, decision, and output layers. </a:t>
            </a:r>
          </a:p>
          <a:p>
            <a:r>
              <a:rPr lang="en-US" sz="1800" b="1" dirty="0"/>
              <a:t>Development</a:t>
            </a:r>
            <a:r>
              <a:rPr lang="en-US" sz="1800" dirty="0"/>
              <a:t> </a:t>
            </a:r>
          </a:p>
          <a:p>
            <a:pPr lvl="1"/>
            <a:r>
              <a:rPr lang="en-US" sz="1800" dirty="0"/>
              <a:t>Backend: Node.js, Express, MongoDB </a:t>
            </a:r>
          </a:p>
          <a:p>
            <a:pPr lvl="1"/>
            <a:r>
              <a:rPr lang="en-US" sz="1800" dirty="0"/>
              <a:t>Frontend: React dashboard </a:t>
            </a:r>
          </a:p>
          <a:p>
            <a:r>
              <a:rPr lang="en-US" sz="1800" b="1" dirty="0"/>
              <a:t>Testing</a:t>
            </a:r>
            <a:br>
              <a:rPr lang="en-US" sz="1800" dirty="0"/>
            </a:br>
            <a:r>
              <a:rPr lang="en-US" sz="1800" dirty="0"/>
              <a:t>We tested the system using sample data to evaluate memory reduction and performance. </a:t>
            </a:r>
          </a:p>
          <a:p>
            <a:r>
              <a:rPr lang="en-US" sz="1800" b="1" dirty="0"/>
              <a:t>Deployment</a:t>
            </a:r>
            <a:br>
              <a:rPr lang="en-US" sz="1800" dirty="0"/>
            </a:br>
            <a:r>
              <a:rPr lang="en-US" sz="1800" dirty="0"/>
              <a:t>The system was deployed with a user interface for real-time visualization. </a:t>
            </a:r>
          </a:p>
          <a:p>
            <a:r>
              <a:rPr lang="en-US" sz="1800" b="1" dirty="0"/>
              <a:t>Maintenance</a:t>
            </a:r>
            <a:br>
              <a:rPr lang="en-US" sz="1800" dirty="0"/>
            </a:br>
            <a:r>
              <a:rPr lang="en-US" sz="1800" dirty="0"/>
              <a:t>Future improvements include better algorithms and adaptive learning.</a:t>
            </a:r>
          </a:p>
        </p:txBody>
      </p:sp>
      <p:sp>
        <p:nvSpPr>
          <p:cNvPr id="4" name="Slide Number Placeholder 3">
            <a:extLst>
              <a:ext uri="{FF2B5EF4-FFF2-40B4-BE49-F238E27FC236}">
                <a16:creationId xmlns:a16="http://schemas.microsoft.com/office/drawing/2014/main" id="{5FA21A3F-8687-30EE-A848-1F2F101BF687}"/>
              </a:ext>
            </a:extLst>
          </p:cNvPr>
          <p:cNvSpPr>
            <a:spLocks noGrp="1"/>
          </p:cNvSpPr>
          <p:nvPr>
            <p:ph type="sldNum" sz="quarter" idx="12"/>
          </p:nvPr>
        </p:nvSpPr>
        <p:spPr/>
        <p:txBody>
          <a:bodyPr/>
          <a:lstStyle/>
          <a:p>
            <a:fld id="{0F8887D6-2A35-42AC-99C1-5E14D32EE4CF}" type="slidenum">
              <a:rPr lang="en-US" smtClean="0"/>
              <a:pPr/>
              <a:t>8</a:t>
            </a:fld>
            <a:endParaRPr lang="en-US" dirty="0"/>
          </a:p>
        </p:txBody>
      </p:sp>
    </p:spTree>
    <p:extLst>
      <p:ext uri="{BB962C8B-B14F-4D97-AF65-F5344CB8AC3E}">
        <p14:creationId xmlns:p14="http://schemas.microsoft.com/office/powerpoint/2010/main" val="1475326864"/>
      </p:ext>
    </p:extLst>
  </p:cSld>
  <p:clrMapOvr>
    <a:masterClrMapping/>
  </p:clrMapOvr>
  <p:transition advTm="4000">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43BBB2-3F06-50EE-B910-BB06B709B8D4}"/>
              </a:ext>
            </a:extLst>
          </p:cNvPr>
          <p:cNvSpPr txBox="1"/>
          <p:nvPr/>
        </p:nvSpPr>
        <p:spPr>
          <a:xfrm>
            <a:off x="323528" y="188640"/>
            <a:ext cx="4968552" cy="861774"/>
          </a:xfrm>
          <a:prstGeom prst="rect">
            <a:avLst/>
          </a:prstGeom>
          <a:noFill/>
        </p:spPr>
        <p:txBody>
          <a:bodyPr wrap="square" rtlCol="0">
            <a:spAutoFit/>
          </a:bodyPr>
          <a:lstStyle/>
          <a:p>
            <a:r>
              <a:rPr lang="en-US" sz="3200" b="1" dirty="0">
                <a:latin typeface="Times New Roman" pitchFamily="18" charset="0"/>
                <a:cs typeface="Times New Roman" pitchFamily="18" charset="0"/>
              </a:rPr>
              <a:t>Data Flow Diagram</a:t>
            </a:r>
          </a:p>
          <a:p>
            <a:endParaRPr lang="en-IN" dirty="0"/>
          </a:p>
        </p:txBody>
      </p:sp>
      <p:sp>
        <p:nvSpPr>
          <p:cNvPr id="7" name="Slide Number Placeholder 6"/>
          <p:cNvSpPr>
            <a:spLocks noGrp="1"/>
          </p:cNvSpPr>
          <p:nvPr>
            <p:ph type="sldNum" sz="quarter" idx="12"/>
          </p:nvPr>
        </p:nvSpPr>
        <p:spPr/>
        <p:txBody>
          <a:bodyPr/>
          <a:lstStyle/>
          <a:p>
            <a:fld id="{0F8887D6-2A35-42AC-99C1-5E14D32EE4CF}" type="slidenum">
              <a:rPr lang="en-US" smtClean="0"/>
              <a:pPr/>
              <a:t>9</a:t>
            </a:fld>
            <a:endParaRPr lang="en-US" dirty="0"/>
          </a:p>
        </p:txBody>
      </p:sp>
      <p:pic>
        <p:nvPicPr>
          <p:cNvPr id="8" name="Picture 7">
            <a:extLst>
              <a:ext uri="{FF2B5EF4-FFF2-40B4-BE49-F238E27FC236}">
                <a16:creationId xmlns:a16="http://schemas.microsoft.com/office/drawing/2014/main" id="{E9F15B7B-D2F5-8EEA-3254-3DBD73F92D2C}"/>
              </a:ext>
            </a:extLst>
          </p:cNvPr>
          <p:cNvPicPr>
            <a:picLocks noChangeAspect="1"/>
          </p:cNvPicPr>
          <p:nvPr/>
        </p:nvPicPr>
        <p:blipFill>
          <a:blip r:embed="rId2"/>
          <a:stretch>
            <a:fillRect/>
          </a:stretch>
        </p:blipFill>
        <p:spPr>
          <a:xfrm>
            <a:off x="179512" y="954579"/>
            <a:ext cx="2276475" cy="5514975"/>
          </a:xfrm>
          <a:prstGeom prst="rect">
            <a:avLst/>
          </a:prstGeom>
        </p:spPr>
      </p:pic>
      <p:sp>
        <p:nvSpPr>
          <p:cNvPr id="9" name="TextBox 8">
            <a:extLst>
              <a:ext uri="{FF2B5EF4-FFF2-40B4-BE49-F238E27FC236}">
                <a16:creationId xmlns:a16="http://schemas.microsoft.com/office/drawing/2014/main" id="{E8F0ED35-2546-A307-CF6A-3B13BC41832E}"/>
              </a:ext>
            </a:extLst>
          </p:cNvPr>
          <p:cNvSpPr txBox="1"/>
          <p:nvPr/>
        </p:nvSpPr>
        <p:spPr>
          <a:xfrm>
            <a:off x="2408851" y="1052736"/>
            <a:ext cx="6264696" cy="5355312"/>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Sign In/Sign Up</a:t>
            </a:r>
            <a:r>
              <a:rPr lang="en-US" dirty="0">
                <a:latin typeface="Times New Roman" panose="02020603050405020304" pitchFamily="18" charset="0"/>
                <a:cs typeface="Times New Roman" panose="02020603050405020304" pitchFamily="18" charset="0"/>
              </a:rPr>
              <a:t>: User inputs credentials (username/email and password) in the sign-in form .Server verifies credentials against the database</a:t>
            </a:r>
            <a:r>
              <a:rPr lang="en-IN"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Authentication</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Authenticated user makes a request to access protected routes or perform actions (e.g., add new property, view user profile).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User Profile</a:t>
            </a:r>
            <a:r>
              <a:rPr lang="en-US" dirty="0">
                <a:latin typeface="Times New Roman" panose="02020603050405020304" pitchFamily="18" charset="0"/>
                <a:cs typeface="Times New Roman" panose="02020603050405020304" pitchFamily="18" charset="0"/>
              </a:rPr>
              <a:t>: Authenticated user navigates to the profile page. React component sends a request to the server to fetch user data using the authentication token.</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Add New Property</a:t>
            </a:r>
            <a:r>
              <a:rPr lang="en-US" dirty="0">
                <a:latin typeface="Times New Roman" panose="02020603050405020304" pitchFamily="18" charset="0"/>
                <a:cs typeface="Times New Roman" panose="02020603050405020304" pitchFamily="18" charset="0"/>
              </a:rPr>
              <a:t>: Authenticated user fills out the property details form (e.g., address, price, description, images). Server validates the token and inserts the new property information into the database.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Search Property</a:t>
            </a:r>
            <a:r>
              <a:rPr lang="en-US" dirty="0">
                <a:latin typeface="Times New Roman" panose="02020603050405020304" pitchFamily="18" charset="0"/>
                <a:cs typeface="Times New Roman" panose="02020603050405020304" pitchFamily="18" charset="0"/>
              </a:rPr>
              <a:t>: User interacts with the search bar or filters to specify search criteria (e.g., location, price range, property type). Server sends the list of matching properties back to the client.</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Manage and Browse Property</a:t>
            </a:r>
            <a:r>
              <a:rPr lang="en-US" dirty="0">
                <a:latin typeface="Times New Roman" panose="02020603050405020304" pitchFamily="18" charset="0"/>
                <a:cs typeface="Times New Roman" panose="02020603050405020304" pitchFamily="18" charset="0"/>
              </a:rPr>
              <a:t>: Authenticated user navigates to the property management or browsing section.</a:t>
            </a:r>
            <a:endParaRPr lang="en-IN" dirty="0">
              <a:latin typeface="Times New Roman" panose="02020603050405020304" pitchFamily="18" charset="0"/>
              <a:cs typeface="Times New Roman" panose="02020603050405020304" pitchFamily="18" charset="0"/>
            </a:endParaRPr>
          </a:p>
        </p:txBody>
      </p:sp>
    </p:spTree>
  </p:cSld>
  <p:clrMapOvr>
    <a:masterClrMapping/>
  </p:clrMapOvr>
  <p:transition advTm="4000">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58640-A37F-C0E2-0349-9322ADA2C695}"/>
              </a:ext>
            </a:extLst>
          </p:cNvPr>
          <p:cNvSpPr>
            <a:spLocks noGrp="1"/>
          </p:cNvSpPr>
          <p:nvPr>
            <p:ph type="ctrTitle"/>
          </p:nvPr>
        </p:nvSpPr>
        <p:spPr>
          <a:xfrm>
            <a:off x="533400" y="1"/>
            <a:ext cx="5406752" cy="914400"/>
          </a:xfrm>
        </p:spPr>
        <p:txBody>
          <a:bodyPr/>
          <a:lstStyle/>
          <a:p>
            <a:pPr algn="l"/>
            <a:r>
              <a:rPr lang="en-IN" dirty="0"/>
              <a:t>Challenges </a:t>
            </a:r>
          </a:p>
        </p:txBody>
      </p:sp>
      <p:sp>
        <p:nvSpPr>
          <p:cNvPr id="3" name="Subtitle 2">
            <a:extLst>
              <a:ext uri="{FF2B5EF4-FFF2-40B4-BE49-F238E27FC236}">
                <a16:creationId xmlns:a16="http://schemas.microsoft.com/office/drawing/2014/main" id="{9F481B4C-ACE5-FA80-0A5C-2E586F3F790B}"/>
              </a:ext>
            </a:extLst>
          </p:cNvPr>
          <p:cNvSpPr>
            <a:spLocks noGrp="1"/>
          </p:cNvSpPr>
          <p:nvPr>
            <p:ph type="subTitle" idx="1"/>
          </p:nvPr>
        </p:nvSpPr>
        <p:spPr/>
        <p:txBody>
          <a:bodyPr/>
          <a:lstStyle/>
          <a:p>
            <a:pPr algn="l"/>
            <a:r>
              <a:rPr lang="en-US" sz="1800" dirty="0">
                <a:solidFill>
                  <a:schemeClr val="tx1"/>
                </a:solidFill>
                <a:latin typeface="Times New Roman" panose="02020603050405020304" pitchFamily="18" charset="0"/>
                <a:cs typeface="Times New Roman" panose="02020603050405020304" pitchFamily="18" charset="0"/>
              </a:rPr>
              <a:t>First, it is difficult to determine which data should be removed. If important data is deleted, it may reduce system accuracy.</a:t>
            </a:r>
          </a:p>
          <a:p>
            <a:pPr algn="l"/>
            <a:r>
              <a:rPr lang="en-US" sz="1800" dirty="0">
                <a:solidFill>
                  <a:schemeClr val="tx1"/>
                </a:solidFill>
                <a:latin typeface="Times New Roman" panose="02020603050405020304" pitchFamily="18" charset="0"/>
                <a:cs typeface="Times New Roman" panose="02020603050405020304" pitchFamily="18" charset="0"/>
              </a:rPr>
              <a:t>Second, removing data can affect model performance. Some machine learning models depend heavily on training data, so deleting data may impact stability.</a:t>
            </a:r>
          </a:p>
          <a:p>
            <a:pPr algn="l"/>
            <a:r>
              <a:rPr lang="en-US" sz="1800" dirty="0">
                <a:solidFill>
                  <a:schemeClr val="tx1"/>
                </a:solidFill>
                <a:latin typeface="Times New Roman" panose="02020603050405020304" pitchFamily="18" charset="0"/>
                <a:cs typeface="Times New Roman" panose="02020603050405020304" pitchFamily="18" charset="0"/>
              </a:rPr>
              <a:t>Third, designing efficient algorithms for safe and reliable forgetting is still a research challenge.</a:t>
            </a:r>
          </a:p>
          <a:p>
            <a:pPr algn="l"/>
            <a:r>
              <a:rPr lang="en-US" sz="1800" dirty="0">
                <a:solidFill>
                  <a:schemeClr val="tx1"/>
                </a:solidFill>
                <a:latin typeface="Times New Roman" panose="02020603050405020304" pitchFamily="18" charset="0"/>
                <a:cs typeface="Times New Roman" panose="02020603050405020304" pitchFamily="18" charset="0"/>
              </a:rPr>
              <a:t>In simple terms:</a:t>
            </a:r>
          </a:p>
          <a:p>
            <a:pPr marL="285750" indent="-285750" algn="l">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Choosing the right threshold is difficult </a:t>
            </a:r>
          </a:p>
          <a:p>
            <a:pPr marL="285750" indent="-285750" algn="l">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Avoiding loss of important data is critical </a:t>
            </a:r>
          </a:p>
          <a:p>
            <a:pPr marL="285750" indent="-285750" algn="l">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Maintaining system stability is challenging</a:t>
            </a:r>
          </a:p>
          <a:p>
            <a:endParaRPr lang="en-IN" dirty="0"/>
          </a:p>
        </p:txBody>
      </p:sp>
      <p:sp>
        <p:nvSpPr>
          <p:cNvPr id="4" name="Slide Number Placeholder 3">
            <a:extLst>
              <a:ext uri="{FF2B5EF4-FFF2-40B4-BE49-F238E27FC236}">
                <a16:creationId xmlns:a16="http://schemas.microsoft.com/office/drawing/2014/main" id="{5C14D9D3-C2D1-5803-BA88-C67241997DC9}"/>
              </a:ext>
            </a:extLst>
          </p:cNvPr>
          <p:cNvSpPr>
            <a:spLocks noGrp="1"/>
          </p:cNvSpPr>
          <p:nvPr>
            <p:ph type="sldNum" sz="quarter" idx="12"/>
          </p:nvPr>
        </p:nvSpPr>
        <p:spPr/>
        <p:txBody>
          <a:bodyPr/>
          <a:lstStyle/>
          <a:p>
            <a:fld id="{0F8887D6-2A35-42AC-99C1-5E14D32EE4CF}" type="slidenum">
              <a:rPr lang="en-US" smtClean="0"/>
              <a:pPr/>
              <a:t>10</a:t>
            </a:fld>
            <a:endParaRPr lang="en-US" dirty="0"/>
          </a:p>
        </p:txBody>
      </p:sp>
      <p:sp>
        <p:nvSpPr>
          <p:cNvPr id="6" name="TextBox 5">
            <a:extLst>
              <a:ext uri="{FF2B5EF4-FFF2-40B4-BE49-F238E27FC236}">
                <a16:creationId xmlns:a16="http://schemas.microsoft.com/office/drawing/2014/main" id="{BD4BE49E-D908-FF21-AFF1-05EC4F43FFC6}"/>
              </a:ext>
            </a:extLst>
          </p:cNvPr>
          <p:cNvSpPr txBox="1"/>
          <p:nvPr/>
        </p:nvSpPr>
        <p:spPr>
          <a:xfrm>
            <a:off x="2274426" y="3270377"/>
            <a:ext cx="4595148" cy="369332"/>
          </a:xfrm>
          <a:prstGeom prst="rect">
            <a:avLst/>
          </a:prstGeom>
          <a:noFill/>
        </p:spPr>
        <p:txBody>
          <a:bodyPr wrap="square">
            <a:spAutoFit/>
          </a:bodyPr>
          <a:lstStyle/>
          <a:p>
            <a:r>
              <a:rPr lang="en-IN" dirty="0"/>
              <a:t> </a:t>
            </a:r>
          </a:p>
        </p:txBody>
      </p:sp>
    </p:spTree>
    <p:extLst>
      <p:ext uri="{BB962C8B-B14F-4D97-AF65-F5344CB8AC3E}">
        <p14:creationId xmlns:p14="http://schemas.microsoft.com/office/powerpoint/2010/main" val="51802013"/>
      </p:ext>
    </p:extLst>
  </p:cSld>
  <p:clrMapOvr>
    <a:masterClrMapping/>
  </p:clrMapOvr>
  <p:transition advTm="400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C1B17-6FE4-79AE-E14D-A11C8F100227}"/>
              </a:ext>
            </a:extLst>
          </p:cNvPr>
          <p:cNvSpPr>
            <a:spLocks noGrp="1"/>
          </p:cNvSpPr>
          <p:nvPr>
            <p:ph type="ctrTitle"/>
          </p:nvPr>
        </p:nvSpPr>
        <p:spPr/>
        <p:txBody>
          <a:bodyPr/>
          <a:lstStyle/>
          <a:p>
            <a:pPr algn="l"/>
            <a:r>
              <a:rPr lang="en-IN" dirty="0"/>
              <a:t>  Project Preview</a:t>
            </a:r>
          </a:p>
        </p:txBody>
      </p:sp>
      <p:sp>
        <p:nvSpPr>
          <p:cNvPr id="3" name="Subtitle 2">
            <a:extLst>
              <a:ext uri="{FF2B5EF4-FFF2-40B4-BE49-F238E27FC236}">
                <a16:creationId xmlns:a16="http://schemas.microsoft.com/office/drawing/2014/main" id="{2FA84E6A-8979-DEFC-1EE8-C42E00FB9E4C}"/>
              </a:ext>
            </a:extLst>
          </p:cNvPr>
          <p:cNvSpPr>
            <a:spLocks noGrp="1"/>
          </p:cNvSpPr>
          <p:nvPr>
            <p:ph type="subTitle" idx="1"/>
          </p:nvPr>
        </p:nvSpPr>
        <p:spPr/>
        <p:txBody>
          <a:bodyPr/>
          <a:lstStyle/>
          <a:p>
            <a:endParaRPr lang="en-IN" dirty="0"/>
          </a:p>
        </p:txBody>
      </p:sp>
      <p:sp>
        <p:nvSpPr>
          <p:cNvPr id="4" name="Slide Number Placeholder 3">
            <a:extLst>
              <a:ext uri="{FF2B5EF4-FFF2-40B4-BE49-F238E27FC236}">
                <a16:creationId xmlns:a16="http://schemas.microsoft.com/office/drawing/2014/main" id="{06BDEB54-4633-C7CE-A3F0-8C2223320A49}"/>
              </a:ext>
            </a:extLst>
          </p:cNvPr>
          <p:cNvSpPr>
            <a:spLocks noGrp="1"/>
          </p:cNvSpPr>
          <p:nvPr>
            <p:ph type="sldNum" sz="quarter" idx="12"/>
          </p:nvPr>
        </p:nvSpPr>
        <p:spPr/>
        <p:txBody>
          <a:bodyPr/>
          <a:lstStyle/>
          <a:p>
            <a:fld id="{0F8887D6-2A35-42AC-99C1-5E14D32EE4CF}" type="slidenum">
              <a:rPr lang="en-US" smtClean="0"/>
              <a:pPr/>
              <a:t>11</a:t>
            </a:fld>
            <a:endParaRPr lang="en-US" dirty="0"/>
          </a:p>
        </p:txBody>
      </p:sp>
      <p:pic>
        <p:nvPicPr>
          <p:cNvPr id="6" name="Picture 5">
            <a:extLst>
              <a:ext uri="{FF2B5EF4-FFF2-40B4-BE49-F238E27FC236}">
                <a16:creationId xmlns:a16="http://schemas.microsoft.com/office/drawing/2014/main" id="{82CCAEA5-6021-B75F-2A79-05D0D8FEBADE}"/>
              </a:ext>
            </a:extLst>
          </p:cNvPr>
          <p:cNvPicPr>
            <a:picLocks noChangeAspect="1"/>
          </p:cNvPicPr>
          <p:nvPr/>
        </p:nvPicPr>
        <p:blipFill>
          <a:blip r:embed="rId2"/>
          <a:stretch>
            <a:fillRect/>
          </a:stretch>
        </p:blipFill>
        <p:spPr>
          <a:xfrm>
            <a:off x="457200" y="1253342"/>
            <a:ext cx="4114800" cy="2293914"/>
          </a:xfrm>
          <a:prstGeom prst="rect">
            <a:avLst/>
          </a:prstGeom>
        </p:spPr>
      </p:pic>
      <p:pic>
        <p:nvPicPr>
          <p:cNvPr id="8" name="Picture 7">
            <a:extLst>
              <a:ext uri="{FF2B5EF4-FFF2-40B4-BE49-F238E27FC236}">
                <a16:creationId xmlns:a16="http://schemas.microsoft.com/office/drawing/2014/main" id="{48864738-2B57-1D7D-5F5D-79F1B83CE121}"/>
              </a:ext>
            </a:extLst>
          </p:cNvPr>
          <p:cNvPicPr>
            <a:picLocks noChangeAspect="1"/>
          </p:cNvPicPr>
          <p:nvPr/>
        </p:nvPicPr>
        <p:blipFill>
          <a:blip r:embed="rId3"/>
          <a:stretch>
            <a:fillRect/>
          </a:stretch>
        </p:blipFill>
        <p:spPr>
          <a:xfrm>
            <a:off x="4572000" y="3547256"/>
            <a:ext cx="4114800" cy="2548744"/>
          </a:xfrm>
          <a:prstGeom prst="rect">
            <a:avLst/>
          </a:prstGeom>
        </p:spPr>
      </p:pic>
      <p:pic>
        <p:nvPicPr>
          <p:cNvPr id="10" name="Picture 9">
            <a:extLst>
              <a:ext uri="{FF2B5EF4-FFF2-40B4-BE49-F238E27FC236}">
                <a16:creationId xmlns:a16="http://schemas.microsoft.com/office/drawing/2014/main" id="{10E5532C-5E34-367C-B562-5B3775F1285B}"/>
              </a:ext>
            </a:extLst>
          </p:cNvPr>
          <p:cNvPicPr>
            <a:picLocks noChangeAspect="1"/>
          </p:cNvPicPr>
          <p:nvPr/>
        </p:nvPicPr>
        <p:blipFill>
          <a:blip r:embed="rId4"/>
          <a:stretch>
            <a:fillRect/>
          </a:stretch>
        </p:blipFill>
        <p:spPr>
          <a:xfrm>
            <a:off x="4572001" y="1253340"/>
            <a:ext cx="4114800" cy="2293916"/>
          </a:xfrm>
          <a:prstGeom prst="rect">
            <a:avLst/>
          </a:prstGeom>
        </p:spPr>
      </p:pic>
      <p:pic>
        <p:nvPicPr>
          <p:cNvPr id="12" name="Picture 11">
            <a:extLst>
              <a:ext uri="{FF2B5EF4-FFF2-40B4-BE49-F238E27FC236}">
                <a16:creationId xmlns:a16="http://schemas.microsoft.com/office/drawing/2014/main" id="{5145712B-C8FF-5D76-1D7E-205EF1168C46}"/>
              </a:ext>
            </a:extLst>
          </p:cNvPr>
          <p:cNvPicPr>
            <a:picLocks noChangeAspect="1"/>
          </p:cNvPicPr>
          <p:nvPr/>
        </p:nvPicPr>
        <p:blipFill>
          <a:blip r:embed="rId5"/>
          <a:stretch>
            <a:fillRect/>
          </a:stretch>
        </p:blipFill>
        <p:spPr>
          <a:xfrm>
            <a:off x="457199" y="3547256"/>
            <a:ext cx="4114800" cy="2548744"/>
          </a:xfrm>
          <a:prstGeom prst="rect">
            <a:avLst/>
          </a:prstGeom>
        </p:spPr>
      </p:pic>
    </p:spTree>
    <p:extLst>
      <p:ext uri="{BB962C8B-B14F-4D97-AF65-F5344CB8AC3E}">
        <p14:creationId xmlns:p14="http://schemas.microsoft.com/office/powerpoint/2010/main" val="2617954301"/>
      </p:ext>
    </p:extLst>
  </p:cSld>
  <p:clrMapOvr>
    <a:masterClrMapping/>
  </p:clrMapOvr>
  <p:transition advTm="4000">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Future</a:t>
            </a:r>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Scope</a:t>
            </a:r>
          </a:p>
        </p:txBody>
      </p:sp>
      <p:sp>
        <p:nvSpPr>
          <p:cNvPr id="3" name="Rectangle 2"/>
          <p:cNvSpPr/>
          <p:nvPr/>
        </p:nvSpPr>
        <p:spPr>
          <a:xfrm>
            <a:off x="179512" y="1052736"/>
            <a:ext cx="8136904" cy="2308324"/>
          </a:xfrm>
          <a:prstGeom prst="rect">
            <a:avLst/>
          </a:prstGeom>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 systems can be made more intelligent by automatically deciding what to keep and what to forget without manual control.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with reinforcement learning can allow systems to improve forgetting decisions over time.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Better machine unlearning techniques will ensure that removing data does not affect performance.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Digital forgetting will also play a key role in privacy protection as data regulations become stricter.</a:t>
            </a:r>
          </a:p>
        </p:txBody>
      </p:sp>
      <p:sp>
        <p:nvSpPr>
          <p:cNvPr id="5" name="Slide Number Placeholder 4"/>
          <p:cNvSpPr>
            <a:spLocks noGrp="1"/>
          </p:cNvSpPr>
          <p:nvPr>
            <p:ph type="sldNum" sz="quarter" idx="12"/>
          </p:nvPr>
        </p:nvSpPr>
        <p:spPr/>
        <p:txBody>
          <a:bodyPr/>
          <a:lstStyle/>
          <a:p>
            <a:fld id="{0F8887D6-2A35-42AC-99C1-5E14D32EE4CF}" type="slidenum">
              <a:rPr lang="en-US" smtClean="0"/>
              <a:pPr/>
              <a:t>12</a:t>
            </a:fld>
            <a:endParaRPr lang="en-US" dirty="0"/>
          </a:p>
        </p:txBody>
      </p:sp>
    </p:spTree>
  </p:cSld>
  <p:clrMapOvr>
    <a:masterClrMapping/>
  </p:clrMapOvr>
  <p:transition advTm="4000">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References/Links used</a:t>
            </a:r>
          </a:p>
        </p:txBody>
      </p:sp>
      <p:sp>
        <p:nvSpPr>
          <p:cNvPr id="5" name="TextBox 4">
            <a:extLst>
              <a:ext uri="{FF2B5EF4-FFF2-40B4-BE49-F238E27FC236}">
                <a16:creationId xmlns:a16="http://schemas.microsoft.com/office/drawing/2014/main" id="{81C2D066-9395-E829-74E2-792337A94274}"/>
              </a:ext>
            </a:extLst>
          </p:cNvPr>
          <p:cNvSpPr txBox="1"/>
          <p:nvPr/>
        </p:nvSpPr>
        <p:spPr>
          <a:xfrm>
            <a:off x="467544" y="1196752"/>
            <a:ext cx="8280920" cy="3570208"/>
          </a:xfrm>
          <a:prstGeom prst="rect">
            <a:avLst/>
          </a:prstGeom>
          <a:noFill/>
        </p:spPr>
        <p:txBody>
          <a:bodyPr wrap="square">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https://www.youtube.com/watch?v=HFj5FMb0jwY&amp;t=958s&amp;ab_channel=LamaDev</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https://www.youtube.com/watch?v=eJ3YysWaP_A&amp;t=0s&amp;ab_channel=LamaDev</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www.google.com</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www.chatgpt.com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This research is supported by multiple studies in the field of machine unlearning and AI memory management, including:</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Cao &amp; Yang (2015) – Machine Unlearning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Bourtoule</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et al. (2021)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 et al. (2023)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Wang et al. (2024)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Papernot</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et al. – Privacy-preserving AI</a:t>
            </a:r>
            <a:endParaRPr kumimoji="0" lang="en-IN" sz="18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endParaRPr>
          </a:p>
          <a:p>
            <a:pPr marL="285750" indent="-285750"/>
            <a:endParaRPr lang="en-IN" sz="2800" dirty="0"/>
          </a:p>
        </p:txBody>
      </p:sp>
      <p:sp>
        <p:nvSpPr>
          <p:cNvPr id="6" name="Slide Number Placeholder 5"/>
          <p:cNvSpPr>
            <a:spLocks noGrp="1"/>
          </p:cNvSpPr>
          <p:nvPr>
            <p:ph type="sldNum" sz="quarter" idx="12"/>
          </p:nvPr>
        </p:nvSpPr>
        <p:spPr/>
        <p:txBody>
          <a:bodyPr/>
          <a:lstStyle/>
          <a:p>
            <a:fld id="{0F8887D6-2A35-42AC-99C1-5E14D32EE4CF}" type="slidenum">
              <a:rPr lang="en-US" smtClean="0"/>
              <a:pPr/>
              <a:t>13</a:t>
            </a:fld>
            <a:endParaRPr lang="en-US" dirty="0"/>
          </a:p>
        </p:txBody>
      </p:sp>
    </p:spTree>
  </p:cSld>
  <p:clrMapOvr>
    <a:masterClrMapping/>
  </p:clrMapOvr>
  <p:transition advTm="4000">
    <p:cut/>
  </p:transition>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826</TotalTime>
  <Words>1186</Words>
  <Application>Microsoft Office PowerPoint</Application>
  <PresentationFormat>On-screen Show (4:3)</PresentationFormat>
  <Paragraphs>118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Arial Black</vt:lpstr>
      <vt:lpstr>Calibri</vt:lpstr>
      <vt:lpstr>clcicgqyw0002obe2xroteu2c</vt:lpstr>
      <vt:lpstr>Times New Roman</vt:lpstr>
      <vt:lpstr>Bubble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SDLC Diagram</vt:lpstr>
      <vt:lpstr>PowerPoint Presentation</vt:lpstr>
      <vt:lpstr>Challenges </vt:lpstr>
      <vt:lpstr>  Project Preview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Anubha Khanna</cp:lastModifiedBy>
  <cp:revision>58</cp:revision>
  <dcterms:created xsi:type="dcterms:W3CDTF">2022-12-12T14:14:34Z</dcterms:created>
  <dcterms:modified xsi:type="dcterms:W3CDTF">2026-04-28T03:59:12Z</dcterms:modified>
</cp:coreProperties>
</file>